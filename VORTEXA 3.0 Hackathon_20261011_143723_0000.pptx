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5" r:id="rId6"/>
    <p:sldId id="266" r:id="rId7"/>
    <p:sldId id="260" r:id="rId8"/>
    <p:sldId id="261" r:id="rId9"/>
    <p:sldId id="262" r:id="rId10"/>
    <p:sldId id="263" r:id="rId11"/>
  </p:sldIdLst>
  <p:sldSz cx="18288000" cy="10287000"/>
  <p:notesSz cx="6858000" cy="9144000"/>
  <p:embeddedFontLst>
    <p:embeddedFont>
      <p:font typeface="Heading Now 31-38" panose="020B0604020202020204" charset="0"/>
      <p:regular r:id="rId12"/>
    </p:embeddedFont>
    <p:embeddedFont>
      <p:font typeface="Heading Now 31-38 Bold" panose="020B0604020202020204" charset="0"/>
      <p:regular r:id="rId13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>
        <p:scale>
          <a:sx n="41" d="100"/>
          <a:sy n="41" d="100"/>
        </p:scale>
        <p:origin x="820" y="5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2.fntdata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1.fntdata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10/11/2026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4.png"/><Relationship Id="rId7" Type="http://schemas.openxmlformats.org/officeDocument/2006/relationships/image" Target="../media/image7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.png"/><Relationship Id="rId11" Type="http://schemas.openxmlformats.org/officeDocument/2006/relationships/image" Target="../media/image9.png"/><Relationship Id="rId5" Type="http://schemas.openxmlformats.org/officeDocument/2006/relationships/image" Target="../media/image6.png"/><Relationship Id="rId10" Type="http://schemas.openxmlformats.org/officeDocument/2006/relationships/image" Target="../media/image2.png"/><Relationship Id="rId4" Type="http://schemas.openxmlformats.org/officeDocument/2006/relationships/image" Target="../media/image5.png"/><Relationship Id="rId9" Type="http://schemas.openxmlformats.org/officeDocument/2006/relationships/image" Target="../media/image12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4.png"/><Relationship Id="rId7" Type="http://schemas.openxmlformats.org/officeDocument/2006/relationships/image" Target="../media/image7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.png"/><Relationship Id="rId11" Type="http://schemas.openxmlformats.org/officeDocument/2006/relationships/image" Target="../media/image9.png"/><Relationship Id="rId5" Type="http://schemas.openxmlformats.org/officeDocument/2006/relationships/image" Target="../media/image6.png"/><Relationship Id="rId10" Type="http://schemas.openxmlformats.org/officeDocument/2006/relationships/image" Target="../media/image2.png"/><Relationship Id="rId4" Type="http://schemas.openxmlformats.org/officeDocument/2006/relationships/image" Target="../media/image5.png"/><Relationship Id="rId9" Type="http://schemas.openxmlformats.org/officeDocument/2006/relationships/image" Target="../media/image12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4.png"/><Relationship Id="rId7" Type="http://schemas.openxmlformats.org/officeDocument/2006/relationships/image" Target="../media/image7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.png"/><Relationship Id="rId11" Type="http://schemas.openxmlformats.org/officeDocument/2006/relationships/image" Target="../media/image2.png"/><Relationship Id="rId5" Type="http://schemas.openxmlformats.org/officeDocument/2006/relationships/image" Target="../media/image6.png"/><Relationship Id="rId10" Type="http://schemas.openxmlformats.org/officeDocument/2006/relationships/image" Target="../media/image9.png"/><Relationship Id="rId4" Type="http://schemas.openxmlformats.org/officeDocument/2006/relationships/image" Target="../media/image5.png"/><Relationship Id="rId9" Type="http://schemas.openxmlformats.org/officeDocument/2006/relationships/image" Target="../media/image12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4.png"/><Relationship Id="rId7" Type="http://schemas.openxmlformats.org/officeDocument/2006/relationships/image" Target="../media/image7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png"/><Relationship Id="rId11" Type="http://schemas.openxmlformats.org/officeDocument/2006/relationships/image" Target="../media/image2.png"/><Relationship Id="rId5" Type="http://schemas.openxmlformats.org/officeDocument/2006/relationships/image" Target="../media/image5.png"/><Relationship Id="rId10" Type="http://schemas.openxmlformats.org/officeDocument/2006/relationships/image" Target="../media/image9.png"/><Relationship Id="rId4" Type="http://schemas.openxmlformats.org/officeDocument/2006/relationships/image" Target="../media/image11.png"/><Relationship Id="rId9" Type="http://schemas.openxmlformats.org/officeDocument/2006/relationships/image" Target="../media/image12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4.png"/><Relationship Id="rId7" Type="http://schemas.openxmlformats.org/officeDocument/2006/relationships/image" Target="../media/image7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.png"/><Relationship Id="rId11" Type="http://schemas.openxmlformats.org/officeDocument/2006/relationships/image" Target="../media/image2.png"/><Relationship Id="rId5" Type="http://schemas.openxmlformats.org/officeDocument/2006/relationships/image" Target="../media/image6.png"/><Relationship Id="rId10" Type="http://schemas.openxmlformats.org/officeDocument/2006/relationships/image" Target="../media/image9.png"/><Relationship Id="rId4" Type="http://schemas.openxmlformats.org/officeDocument/2006/relationships/image" Target="../media/image5.png"/><Relationship Id="rId9" Type="http://schemas.openxmlformats.org/officeDocument/2006/relationships/image" Target="../media/image12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4.png"/><Relationship Id="rId7" Type="http://schemas.openxmlformats.org/officeDocument/2006/relationships/image" Target="../media/image7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.png"/><Relationship Id="rId11" Type="http://schemas.openxmlformats.org/officeDocument/2006/relationships/image" Target="../media/image2.png"/><Relationship Id="rId5" Type="http://schemas.openxmlformats.org/officeDocument/2006/relationships/image" Target="../media/image6.png"/><Relationship Id="rId10" Type="http://schemas.openxmlformats.org/officeDocument/2006/relationships/image" Target="../media/image9.png"/><Relationship Id="rId4" Type="http://schemas.openxmlformats.org/officeDocument/2006/relationships/image" Target="../media/image5.png"/><Relationship Id="rId9" Type="http://schemas.openxmlformats.org/officeDocument/2006/relationships/image" Target="../media/image12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13" Type="http://schemas.openxmlformats.org/officeDocument/2006/relationships/image" Target="../media/image24.png"/><Relationship Id="rId3" Type="http://schemas.openxmlformats.org/officeDocument/2006/relationships/image" Target="../media/image14.png"/><Relationship Id="rId7" Type="http://schemas.openxmlformats.org/officeDocument/2006/relationships/image" Target="../media/image18.png"/><Relationship Id="rId12" Type="http://schemas.openxmlformats.org/officeDocument/2006/relationships/image" Target="../media/image23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7.png"/><Relationship Id="rId11" Type="http://schemas.openxmlformats.org/officeDocument/2006/relationships/image" Target="../media/image22.png"/><Relationship Id="rId5" Type="http://schemas.openxmlformats.org/officeDocument/2006/relationships/image" Target="../media/image16.png"/><Relationship Id="rId10" Type="http://schemas.openxmlformats.org/officeDocument/2006/relationships/image" Target="../media/image21.png"/><Relationship Id="rId4" Type="http://schemas.openxmlformats.org/officeDocument/2006/relationships/image" Target="../media/image15.png"/><Relationship Id="rId9" Type="http://schemas.openxmlformats.org/officeDocument/2006/relationships/image" Target="../media/image20.png"/><Relationship Id="rId1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8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5416893" y="4930326"/>
            <a:ext cx="1790743" cy="1009954"/>
          </a:xfrm>
          <a:custGeom>
            <a:avLst/>
            <a:gdLst/>
            <a:ahLst/>
            <a:cxnLst/>
            <a:rect l="l" t="t" r="r" b="b"/>
            <a:pathLst>
              <a:path w="1790743" h="1009954">
                <a:moveTo>
                  <a:pt x="0" y="0"/>
                </a:moveTo>
                <a:lnTo>
                  <a:pt x="1790744" y="0"/>
                </a:lnTo>
                <a:lnTo>
                  <a:pt x="1790744" y="1009954"/>
                </a:lnTo>
                <a:lnTo>
                  <a:pt x="0" y="100995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9000"/>
            </a:blip>
            <a:stretch>
              <a:fillRect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736676" y="6563781"/>
            <a:ext cx="14884323" cy="61555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4771"/>
              </a:lnSpc>
            </a:pPr>
            <a:r>
              <a:rPr lang="en-US" sz="4771" b="1" spc="46" dirty="0">
                <a:solidFill>
                  <a:srgbClr val="4E4A76"/>
                </a:solidFill>
                <a:latin typeface="Heading Now 31-38 Bold"/>
                <a:ea typeface="Heading Now 31-38 Bold"/>
                <a:cs typeface="Heading Now 31-38 Bold"/>
                <a:sym typeface="Heading Now 31-38 Bold"/>
              </a:rPr>
              <a:t>TEAM NAME : </a:t>
            </a:r>
            <a:r>
              <a:rPr lang="en-US" sz="4771" spc="46" dirty="0">
                <a:latin typeface="Heading Now 31-38" panose="020B0604020202020204" charset="0"/>
                <a:ea typeface="Heading Now 31-38 Bold"/>
                <a:cs typeface="Heading Now 31-38 Bold"/>
                <a:sym typeface="Heading Now 31-38 Bold"/>
              </a:rPr>
              <a:t>The Merge conflicts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736677" y="4655619"/>
            <a:ext cx="15970264" cy="65800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5148"/>
              </a:lnSpc>
            </a:pPr>
            <a:r>
              <a:rPr lang="en-US" sz="5148" b="1" spc="50" dirty="0">
                <a:solidFill>
                  <a:schemeClr val="accent4">
                    <a:lumMod val="75000"/>
                  </a:schemeClr>
                </a:solidFill>
                <a:latin typeface="Heading Now 31-38 Bold"/>
                <a:ea typeface="Heading Now 31-38 Bold"/>
                <a:cs typeface="Heading Now 31-38 Bold"/>
                <a:sym typeface="Heading Now 31-38 Bold"/>
              </a:rPr>
              <a:t>PROBLEM STATEMENT TITLE</a:t>
            </a:r>
            <a:r>
              <a:rPr lang="en-US" sz="5148" b="1" spc="50" dirty="0">
                <a:solidFill>
                  <a:srgbClr val="1A2651"/>
                </a:solidFill>
                <a:latin typeface="Heading Now 31-38 Bold"/>
                <a:ea typeface="Heading Now 31-38 Bold"/>
                <a:cs typeface="Heading Now 31-38 Bold"/>
                <a:sym typeface="Heading Now 31-38 Bold"/>
              </a:rPr>
              <a:t>: </a:t>
            </a:r>
            <a:r>
              <a:rPr lang="fr-FR" sz="5400" dirty="0" err="1">
                <a:latin typeface="Heading Now 31-38" panose="020B0604020202020204" charset="0"/>
              </a:rPr>
              <a:t>RationSaathi</a:t>
            </a:r>
            <a:r>
              <a:rPr lang="fr-FR" sz="5400" dirty="0">
                <a:latin typeface="Heading Now 31-38" panose="020B0604020202020204" charset="0"/>
              </a:rPr>
              <a:t>: Public Distribution </a:t>
            </a:r>
            <a:r>
              <a:rPr lang="fr-FR" sz="5400" dirty="0" err="1">
                <a:latin typeface="Heading Now 31-38" panose="020B0604020202020204" charset="0"/>
              </a:rPr>
              <a:t>Entitlement</a:t>
            </a:r>
            <a:r>
              <a:rPr lang="fr-FR" sz="5400" dirty="0">
                <a:latin typeface="Heading Now 31-38" panose="020B0604020202020204" charset="0"/>
              </a:rPr>
              <a:t> &amp; Dispute Assistant</a:t>
            </a:r>
            <a:r>
              <a:rPr lang="en-US" sz="5148" b="1" spc="50" dirty="0">
                <a:solidFill>
                  <a:srgbClr val="1A2651"/>
                </a:solidFill>
                <a:latin typeface="Heading Now 31-38" panose="020B0604020202020204" charset="0"/>
                <a:ea typeface="Heading Now 31-38 Bold"/>
                <a:cs typeface="Heading Now 31-38 Bold"/>
                <a:sym typeface="Heading Now 31-38 Bold"/>
              </a:rPr>
              <a:t> 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736677" y="3700840"/>
            <a:ext cx="6250076" cy="6540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148"/>
              </a:lnSpc>
            </a:pPr>
            <a:r>
              <a:rPr lang="en-US" sz="5148" b="1" spc="50" dirty="0">
                <a:solidFill>
                  <a:srgbClr val="4E4A76"/>
                </a:solidFill>
                <a:latin typeface="Heading Now 31-38 Bold"/>
                <a:ea typeface="Heading Now 31-38 Bold"/>
                <a:cs typeface="Heading Now 31-38 Bold"/>
                <a:sym typeface="Heading Now 31-38 Bold"/>
              </a:rPr>
              <a:t>DOMAIN &amp; NO :</a:t>
            </a:r>
            <a:r>
              <a:rPr lang="en-US" sz="5148" b="1" spc="50" dirty="0">
                <a:solidFill>
                  <a:srgbClr val="161F3E"/>
                </a:solidFill>
                <a:latin typeface="Heading Now 31-38 Bold"/>
                <a:ea typeface="Heading Now 31-38 Bold"/>
                <a:cs typeface="Heading Now 31-38 Bold"/>
                <a:sym typeface="Heading Now 31-38 Bold"/>
              </a:rPr>
              <a:t>  </a:t>
            </a:r>
            <a:r>
              <a:rPr lang="en-US" sz="5148" b="1" spc="50" dirty="0">
                <a:solidFill>
                  <a:srgbClr val="161F3E"/>
                </a:solidFill>
                <a:latin typeface="Heading Now 31-38"/>
                <a:ea typeface="Heading Now 31-38 Bold"/>
                <a:cs typeface="Heading Now 31-38 Bold"/>
                <a:sym typeface="Heading Now 31-38"/>
              </a:rPr>
              <a:t>6</a:t>
            </a:r>
            <a:r>
              <a:rPr lang="en-US" sz="5148" spc="50" dirty="0">
                <a:solidFill>
                  <a:srgbClr val="161F3E"/>
                </a:solidFill>
                <a:latin typeface="Heading Now 31-38"/>
                <a:ea typeface="Heading Now 31-38"/>
                <a:cs typeface="Heading Now 31-38"/>
                <a:sym typeface="Heading Now 31-38"/>
              </a:rPr>
              <a:t>, P-01 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736677" y="7525335"/>
            <a:ext cx="14884322" cy="233153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4472"/>
              </a:lnSpc>
            </a:pPr>
            <a:r>
              <a:rPr lang="en-US" sz="4472" b="1" spc="43" dirty="0">
                <a:solidFill>
                  <a:srgbClr val="4E4A76"/>
                </a:solidFill>
                <a:latin typeface="Heading Now 31-38 Bold"/>
                <a:ea typeface="Heading Now 31-38 Bold"/>
                <a:cs typeface="Heading Now 31-38 Bold"/>
                <a:sym typeface="Heading Now 31-38 Bold"/>
              </a:rPr>
              <a:t>TEAM ID : </a:t>
            </a:r>
            <a:r>
              <a:rPr lang="en-US" sz="5400" dirty="0">
                <a:latin typeface="Heading Now 31-38" panose="020B0604020202020204" charset="0"/>
              </a:rPr>
              <a:t>WII 7779664</a:t>
            </a:r>
          </a:p>
          <a:p>
            <a:pPr>
              <a:lnSpc>
                <a:spcPts val="4472"/>
              </a:lnSpc>
            </a:pPr>
            <a:endParaRPr lang="en-US" sz="5400" spc="43" dirty="0">
              <a:solidFill>
                <a:srgbClr val="4E4A76"/>
              </a:solidFill>
              <a:latin typeface="Heading Now 31-38" panose="020B0604020202020204" charset="0"/>
              <a:ea typeface="Heading Now 31-38 Bold"/>
              <a:cs typeface="Heading Now 31-38 Bold"/>
              <a:sym typeface="Heading Now 31-38 Bold"/>
            </a:endParaRPr>
          </a:p>
          <a:p>
            <a:pPr>
              <a:lnSpc>
                <a:spcPts val="4472"/>
              </a:lnSpc>
            </a:pPr>
            <a:r>
              <a:rPr lang="en-US" sz="5400" b="1" dirty="0">
                <a:solidFill>
                  <a:schemeClr val="accent4">
                    <a:lumMod val="75000"/>
                  </a:schemeClr>
                </a:solidFill>
                <a:latin typeface="Heading Now 31-38" panose="020B0604020202020204" charset="0"/>
              </a:rPr>
              <a:t>Tagline:</a:t>
            </a:r>
            <a:r>
              <a:rPr lang="en-US" sz="5400" dirty="0">
                <a:solidFill>
                  <a:schemeClr val="accent4">
                    <a:lumMod val="75000"/>
                  </a:schemeClr>
                </a:solidFill>
                <a:latin typeface="Heading Now 31-38" panose="020B0604020202020204" charset="0"/>
              </a:rPr>
              <a:t> </a:t>
            </a:r>
            <a:r>
              <a:rPr lang="en-US" sz="5400" dirty="0">
                <a:latin typeface="Heading Now 31-38" panose="020B0604020202020204" charset="0"/>
              </a:rPr>
              <a:t>Every delivery counted. Every claim supported by evidence</a:t>
            </a:r>
            <a:r>
              <a:rPr lang="en-US" sz="5400" dirty="0">
                <a:solidFill>
                  <a:schemeClr val="accent4">
                    <a:lumMod val="75000"/>
                  </a:schemeClr>
                </a:solidFill>
                <a:latin typeface="Heading Now 31-38" panose="020B0604020202020204" charset="0"/>
              </a:rPr>
              <a:t>.</a:t>
            </a:r>
          </a:p>
          <a:p>
            <a:pPr>
              <a:lnSpc>
                <a:spcPts val="4472"/>
              </a:lnSpc>
            </a:pPr>
            <a:endParaRPr lang="en-US" sz="5400" spc="43" dirty="0">
              <a:solidFill>
                <a:srgbClr val="4E4A76"/>
              </a:solidFill>
              <a:latin typeface="Heading Now 31-38" panose="020B0604020202020204" charset="0"/>
              <a:ea typeface="Heading Now 31-38 Bold"/>
              <a:cs typeface="Heading Now 31-38 Bold"/>
              <a:sym typeface="Heading Now 31-38 Bold"/>
            </a:endParaRPr>
          </a:p>
        </p:txBody>
      </p:sp>
      <p:sp>
        <p:nvSpPr>
          <p:cNvPr id="7" name="Freeform 7"/>
          <p:cNvSpPr/>
          <p:nvPr/>
        </p:nvSpPr>
        <p:spPr>
          <a:xfrm>
            <a:off x="16127273" y="239946"/>
            <a:ext cx="2160727" cy="2160727"/>
          </a:xfrm>
          <a:custGeom>
            <a:avLst/>
            <a:gdLst/>
            <a:ahLst/>
            <a:cxnLst/>
            <a:rect l="l" t="t" r="r" b="b"/>
            <a:pathLst>
              <a:path w="2160727" h="2160727">
                <a:moveTo>
                  <a:pt x="0" y="0"/>
                </a:moveTo>
                <a:lnTo>
                  <a:pt x="2160727" y="0"/>
                </a:lnTo>
                <a:lnTo>
                  <a:pt x="2160727" y="2160727"/>
                </a:lnTo>
                <a:lnTo>
                  <a:pt x="0" y="216072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8" name="TextBox 8"/>
          <p:cNvSpPr txBox="1"/>
          <p:nvPr/>
        </p:nvSpPr>
        <p:spPr>
          <a:xfrm>
            <a:off x="594418" y="366545"/>
            <a:ext cx="15712382" cy="174429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13306"/>
              </a:lnSpc>
            </a:pPr>
            <a:r>
              <a:rPr lang="en-US" sz="13306" b="1" spc="129" dirty="0">
                <a:solidFill>
                  <a:srgbClr val="3C3B56">
                    <a:alpha val="84706"/>
                  </a:srgbClr>
                </a:solidFill>
                <a:latin typeface="Heading Now 31-38 Bold"/>
                <a:ea typeface="Heading Now 31-38 Bold"/>
                <a:cs typeface="Heading Now 31-38 Bold"/>
                <a:sym typeface="Heading Now 31-38 Bold"/>
              </a:rPr>
              <a:t>VORTEXA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4686268" y="366545"/>
            <a:ext cx="1413653" cy="209642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3306"/>
              </a:lnSpc>
            </a:pPr>
            <a:r>
              <a:rPr lang="en-US" sz="13306" b="1" spc="129">
                <a:solidFill>
                  <a:srgbClr val="7F5E87"/>
                </a:solidFill>
                <a:latin typeface="Heading Now 31-38 Bold"/>
                <a:ea typeface="Heading Now 31-38 Bold"/>
                <a:cs typeface="Heading Now 31-38 Bold"/>
                <a:sym typeface="Heading Now 31-38 Bold"/>
              </a:rPr>
              <a:t>3.0</a:t>
            </a:r>
          </a:p>
        </p:txBody>
      </p:sp>
      <p:sp>
        <p:nvSpPr>
          <p:cNvPr id="10" name="Freeform 10"/>
          <p:cNvSpPr/>
          <p:nvPr/>
        </p:nvSpPr>
        <p:spPr>
          <a:xfrm>
            <a:off x="427876" y="2201546"/>
            <a:ext cx="5496285" cy="239623"/>
          </a:xfrm>
          <a:custGeom>
            <a:avLst/>
            <a:gdLst/>
            <a:ahLst/>
            <a:cxnLst/>
            <a:rect l="l" t="t" r="r" b="b"/>
            <a:pathLst>
              <a:path w="5496285" h="239623">
                <a:moveTo>
                  <a:pt x="0" y="0"/>
                </a:moveTo>
                <a:lnTo>
                  <a:pt x="5496285" y="0"/>
                </a:lnTo>
                <a:lnTo>
                  <a:pt x="5496285" y="239623"/>
                </a:lnTo>
                <a:lnTo>
                  <a:pt x="0" y="23962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11" name="TextBox 11"/>
          <p:cNvSpPr txBox="1"/>
          <p:nvPr/>
        </p:nvSpPr>
        <p:spPr>
          <a:xfrm>
            <a:off x="6181496" y="1747988"/>
            <a:ext cx="2453149" cy="57336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08"/>
              </a:lnSpc>
            </a:pPr>
            <a:r>
              <a:rPr lang="en-US" sz="3608" b="1" spc="89">
                <a:solidFill>
                  <a:srgbClr val="3F3F3F"/>
                </a:solidFill>
                <a:latin typeface="Heading Now 31-38 Bold"/>
                <a:ea typeface="Heading Now 31-38 Bold"/>
                <a:cs typeface="Heading Now 31-38 Bold"/>
                <a:sym typeface="Heading Now 31-38 Bold"/>
              </a:rPr>
              <a:t>12 HRS HACKATHON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736677" y="2531879"/>
            <a:ext cx="2119254" cy="4310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21"/>
              </a:lnSpc>
            </a:pPr>
            <a:r>
              <a:rPr lang="en-US" sz="2721" b="1" spc="67">
                <a:solidFill>
                  <a:srgbClr val="161F3E"/>
                </a:solidFill>
                <a:latin typeface="Heading Now 31-38 Bold"/>
                <a:ea typeface="Heading Now 31-38 Bold"/>
                <a:cs typeface="Heading Now 31-38 Bold"/>
                <a:sym typeface="Heading Now 31-38 Bold"/>
              </a:rPr>
              <a:t>POWERED BY </a:t>
            </a:r>
            <a:r>
              <a:rPr lang="en-US" sz="2721" b="1" spc="67">
                <a:solidFill>
                  <a:srgbClr val="4E4A76"/>
                </a:solidFill>
                <a:latin typeface="Heading Now 31-38 Bold"/>
                <a:ea typeface="Heading Now 31-38 Bold"/>
                <a:cs typeface="Heading Now 31-38 Bold"/>
                <a:sym typeface="Heading Now 31-38 Bold"/>
              </a:rPr>
              <a:t>A.I.R.S</a:t>
            </a:r>
          </a:p>
        </p:txBody>
      </p:sp>
      <p:sp>
        <p:nvSpPr>
          <p:cNvPr id="13" name="Freeform 13"/>
          <p:cNvSpPr/>
          <p:nvPr/>
        </p:nvSpPr>
        <p:spPr>
          <a:xfrm>
            <a:off x="0" y="-303755"/>
            <a:ext cx="1750048" cy="10607152"/>
          </a:xfrm>
          <a:custGeom>
            <a:avLst/>
            <a:gdLst/>
            <a:ahLst/>
            <a:cxnLst/>
            <a:rect l="l" t="t" r="r" b="b"/>
            <a:pathLst>
              <a:path w="1750048" h="10607152">
                <a:moveTo>
                  <a:pt x="0" y="0"/>
                </a:moveTo>
                <a:lnTo>
                  <a:pt x="1750048" y="0"/>
                </a:lnTo>
                <a:lnTo>
                  <a:pt x="1750048" y="10607153"/>
                </a:lnTo>
                <a:lnTo>
                  <a:pt x="0" y="10607153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3785" r="-3785"/>
            </a:stretch>
          </a:blipFill>
        </p:spPr>
        <p:txBody>
          <a:bodyPr/>
          <a:lstStyle/>
          <a:p>
            <a:endParaRPr lang="en-US" dirty="0"/>
          </a:p>
        </p:txBody>
      </p:sp>
      <p:sp>
        <p:nvSpPr>
          <p:cNvPr id="14" name="Freeform 14"/>
          <p:cNvSpPr/>
          <p:nvPr/>
        </p:nvSpPr>
        <p:spPr>
          <a:xfrm>
            <a:off x="14361330" y="6635716"/>
            <a:ext cx="1750048" cy="1727254"/>
          </a:xfrm>
          <a:custGeom>
            <a:avLst/>
            <a:gdLst/>
            <a:ahLst/>
            <a:cxnLst/>
            <a:rect l="l" t="t" r="r" b="b"/>
            <a:pathLst>
              <a:path w="1750048" h="1727254">
                <a:moveTo>
                  <a:pt x="0" y="0"/>
                </a:moveTo>
                <a:lnTo>
                  <a:pt x="1750048" y="0"/>
                </a:lnTo>
                <a:lnTo>
                  <a:pt x="1750048" y="1727254"/>
                </a:lnTo>
                <a:lnTo>
                  <a:pt x="0" y="1727254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</p:sp>
      <p:sp>
        <p:nvSpPr>
          <p:cNvPr id="15" name="Freeform 15"/>
          <p:cNvSpPr/>
          <p:nvPr/>
        </p:nvSpPr>
        <p:spPr>
          <a:xfrm>
            <a:off x="12739803" y="7046873"/>
            <a:ext cx="5548197" cy="3256525"/>
          </a:xfrm>
          <a:custGeom>
            <a:avLst/>
            <a:gdLst/>
            <a:ahLst/>
            <a:cxnLst/>
            <a:rect l="l" t="t" r="r" b="b"/>
            <a:pathLst>
              <a:path w="5548197" h="3256525">
                <a:moveTo>
                  <a:pt x="0" y="0"/>
                </a:moveTo>
                <a:lnTo>
                  <a:pt x="5548197" y="0"/>
                </a:lnTo>
                <a:lnTo>
                  <a:pt x="5548197" y="3256525"/>
                </a:lnTo>
                <a:lnTo>
                  <a:pt x="0" y="3256525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t="-9154" b="-3059"/>
            </a:stretch>
          </a:blipFill>
        </p:spPr>
      </p:sp>
      <p:sp>
        <p:nvSpPr>
          <p:cNvPr id="16" name="Freeform 16"/>
          <p:cNvSpPr/>
          <p:nvPr/>
        </p:nvSpPr>
        <p:spPr>
          <a:xfrm>
            <a:off x="16975464" y="5474537"/>
            <a:ext cx="1312536" cy="4088563"/>
          </a:xfrm>
          <a:custGeom>
            <a:avLst/>
            <a:gdLst/>
            <a:ahLst/>
            <a:cxnLst/>
            <a:rect l="l" t="t" r="r" b="b"/>
            <a:pathLst>
              <a:path w="1312536" h="4088563">
                <a:moveTo>
                  <a:pt x="0" y="0"/>
                </a:moveTo>
                <a:lnTo>
                  <a:pt x="1312536" y="0"/>
                </a:lnTo>
                <a:lnTo>
                  <a:pt x="1312536" y="4088563"/>
                </a:lnTo>
                <a:lnTo>
                  <a:pt x="0" y="4088563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/>
            </a:stretch>
          </a:blipFill>
        </p:spPr>
      </p:sp>
      <p:sp>
        <p:nvSpPr>
          <p:cNvPr id="17" name="Freeform 17"/>
          <p:cNvSpPr/>
          <p:nvPr/>
        </p:nvSpPr>
        <p:spPr>
          <a:xfrm>
            <a:off x="16706941" y="7046873"/>
            <a:ext cx="1104718" cy="2372241"/>
          </a:xfrm>
          <a:custGeom>
            <a:avLst/>
            <a:gdLst/>
            <a:ahLst/>
            <a:cxnLst/>
            <a:rect l="l" t="t" r="r" b="b"/>
            <a:pathLst>
              <a:path w="1104718" h="2372241">
                <a:moveTo>
                  <a:pt x="0" y="0"/>
                </a:moveTo>
                <a:lnTo>
                  <a:pt x="1104718" y="0"/>
                </a:lnTo>
                <a:lnTo>
                  <a:pt x="1104718" y="2372241"/>
                </a:lnTo>
                <a:lnTo>
                  <a:pt x="0" y="2372241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/>
            </a:stretch>
          </a:blipFill>
        </p:spPr>
      </p:sp>
      <p:sp>
        <p:nvSpPr>
          <p:cNvPr id="18" name="Freeform 18"/>
          <p:cNvSpPr/>
          <p:nvPr/>
        </p:nvSpPr>
        <p:spPr>
          <a:xfrm>
            <a:off x="14727951" y="2550929"/>
            <a:ext cx="3560049" cy="1756785"/>
          </a:xfrm>
          <a:custGeom>
            <a:avLst/>
            <a:gdLst/>
            <a:ahLst/>
            <a:cxnLst/>
            <a:rect l="l" t="t" r="r" b="b"/>
            <a:pathLst>
              <a:path w="3560049" h="1756785">
                <a:moveTo>
                  <a:pt x="0" y="0"/>
                </a:moveTo>
                <a:lnTo>
                  <a:pt x="3560049" y="0"/>
                </a:lnTo>
                <a:lnTo>
                  <a:pt x="3560049" y="1756784"/>
                </a:lnTo>
                <a:lnTo>
                  <a:pt x="0" y="1756784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alphaModFix amt="57000"/>
            </a:blip>
            <a:stretch>
              <a:fillRect/>
            </a:stretch>
          </a:blipFill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0" y="0"/>
            <a:ext cx="18288000" cy="10479517"/>
            <a:chOff x="0" y="0"/>
            <a:chExt cx="24384000" cy="13972689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333397" cy="13147537"/>
            </a:xfrm>
            <a:custGeom>
              <a:avLst/>
              <a:gdLst/>
              <a:ahLst/>
              <a:cxnLst/>
              <a:rect l="l" t="t" r="r" b="b"/>
              <a:pathLst>
                <a:path w="2333397" h="13147537">
                  <a:moveTo>
                    <a:pt x="0" y="0"/>
                  </a:moveTo>
                  <a:lnTo>
                    <a:pt x="2333397" y="0"/>
                  </a:lnTo>
                  <a:lnTo>
                    <a:pt x="2333397" y="13147537"/>
                  </a:lnTo>
                  <a:lnTo>
                    <a:pt x="0" y="131475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</p:sp>
        <p:sp>
          <p:nvSpPr>
            <p:cNvPr id="5" name="Freeform 5"/>
            <p:cNvSpPr/>
            <p:nvPr/>
          </p:nvSpPr>
          <p:spPr>
            <a:xfrm>
              <a:off x="19148440" y="8847622"/>
              <a:ext cx="2333397" cy="2303005"/>
            </a:xfrm>
            <a:custGeom>
              <a:avLst/>
              <a:gdLst/>
              <a:ahLst/>
              <a:cxnLst/>
              <a:rect l="l" t="t" r="r" b="b"/>
              <a:pathLst>
                <a:path w="2333397" h="2303005">
                  <a:moveTo>
                    <a:pt x="0" y="0"/>
                  </a:moveTo>
                  <a:lnTo>
                    <a:pt x="2333397" y="0"/>
                  </a:lnTo>
                  <a:lnTo>
                    <a:pt x="2333397" y="2303005"/>
                  </a:lnTo>
                  <a:lnTo>
                    <a:pt x="0" y="230300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/>
              </a:stretch>
            </a:blipFill>
          </p:spPr>
        </p:sp>
        <p:sp>
          <p:nvSpPr>
            <p:cNvPr id="6" name="Freeform 6"/>
            <p:cNvSpPr/>
            <p:nvPr/>
          </p:nvSpPr>
          <p:spPr>
            <a:xfrm>
              <a:off x="17412976" y="9395831"/>
              <a:ext cx="6971024" cy="4342033"/>
            </a:xfrm>
            <a:custGeom>
              <a:avLst/>
              <a:gdLst/>
              <a:ahLst/>
              <a:cxnLst/>
              <a:rect l="l" t="t" r="r" b="b"/>
              <a:pathLst>
                <a:path w="6971024" h="4342033">
                  <a:moveTo>
                    <a:pt x="0" y="0"/>
                  </a:moveTo>
                  <a:lnTo>
                    <a:pt x="6971024" y="0"/>
                  </a:lnTo>
                  <a:lnTo>
                    <a:pt x="6971024" y="4342033"/>
                  </a:lnTo>
                  <a:lnTo>
                    <a:pt x="0" y="434203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t="-5743"/>
              </a:stretch>
            </a:blipFill>
          </p:spPr>
        </p:sp>
        <p:sp>
          <p:nvSpPr>
            <p:cNvPr id="7" name="Freeform 7"/>
            <p:cNvSpPr/>
            <p:nvPr/>
          </p:nvSpPr>
          <p:spPr>
            <a:xfrm>
              <a:off x="0" y="9395831"/>
              <a:ext cx="1750048" cy="4576859"/>
            </a:xfrm>
            <a:custGeom>
              <a:avLst/>
              <a:gdLst/>
              <a:ahLst/>
              <a:cxnLst/>
              <a:rect l="l" t="t" r="r" b="b"/>
              <a:pathLst>
                <a:path w="1750048" h="4576859">
                  <a:moveTo>
                    <a:pt x="0" y="0"/>
                  </a:moveTo>
                  <a:lnTo>
                    <a:pt x="1750048" y="0"/>
                  </a:lnTo>
                  <a:lnTo>
                    <a:pt x="1750048" y="4576858"/>
                  </a:lnTo>
                  <a:lnTo>
                    <a:pt x="0" y="457685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/>
              </a:stretch>
            </a:blipFill>
          </p:spPr>
        </p:sp>
        <p:sp>
          <p:nvSpPr>
            <p:cNvPr id="8" name="Freeform 8"/>
            <p:cNvSpPr/>
            <p:nvPr/>
          </p:nvSpPr>
          <p:spPr>
            <a:xfrm>
              <a:off x="22633952" y="7273416"/>
              <a:ext cx="1750048" cy="5451418"/>
            </a:xfrm>
            <a:custGeom>
              <a:avLst/>
              <a:gdLst/>
              <a:ahLst/>
              <a:cxnLst/>
              <a:rect l="l" t="t" r="r" b="b"/>
              <a:pathLst>
                <a:path w="1750048" h="5451418">
                  <a:moveTo>
                    <a:pt x="0" y="0"/>
                  </a:moveTo>
                  <a:lnTo>
                    <a:pt x="1750048" y="0"/>
                  </a:lnTo>
                  <a:lnTo>
                    <a:pt x="1750048" y="5451417"/>
                  </a:lnTo>
                  <a:lnTo>
                    <a:pt x="0" y="545141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/>
              </a:stretch>
            </a:blipFill>
          </p:spPr>
        </p:sp>
        <p:sp>
          <p:nvSpPr>
            <p:cNvPr id="9" name="Freeform 9"/>
            <p:cNvSpPr/>
            <p:nvPr/>
          </p:nvSpPr>
          <p:spPr>
            <a:xfrm>
              <a:off x="22275922" y="9395831"/>
              <a:ext cx="1472957" cy="3162988"/>
            </a:xfrm>
            <a:custGeom>
              <a:avLst/>
              <a:gdLst/>
              <a:ahLst/>
              <a:cxnLst/>
              <a:rect l="l" t="t" r="r" b="b"/>
              <a:pathLst>
                <a:path w="1472957" h="3162988">
                  <a:moveTo>
                    <a:pt x="0" y="0"/>
                  </a:moveTo>
                  <a:lnTo>
                    <a:pt x="1472956" y="0"/>
                  </a:lnTo>
                  <a:lnTo>
                    <a:pt x="1472956" y="3162988"/>
                  </a:lnTo>
                  <a:lnTo>
                    <a:pt x="0" y="316298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/>
              </a:stretch>
            </a:blipFill>
          </p:spPr>
        </p:sp>
      </p:grpSp>
      <p:sp>
        <p:nvSpPr>
          <p:cNvPr id="10" name="TextBox 10"/>
          <p:cNvSpPr txBox="1"/>
          <p:nvPr/>
        </p:nvSpPr>
        <p:spPr>
          <a:xfrm>
            <a:off x="255295" y="108648"/>
            <a:ext cx="16720168" cy="96180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7500"/>
              </a:lnSpc>
            </a:pPr>
            <a:r>
              <a:rPr lang="en-US" sz="7500" b="1" spc="150" dirty="0">
                <a:solidFill>
                  <a:srgbClr val="172243"/>
                </a:solidFill>
                <a:latin typeface="Heading Now 31-38 Bold"/>
                <a:ea typeface="Heading Now 31-38 Bold"/>
                <a:cs typeface="Heading Now 31-38 Bold"/>
                <a:sym typeface="Heading Now 31-38 Bold"/>
              </a:rPr>
              <a:t>PROBLEM STATEMENT</a:t>
            </a:r>
          </a:p>
        </p:txBody>
      </p:sp>
      <p:sp>
        <p:nvSpPr>
          <p:cNvPr id="11" name="Freeform 11"/>
          <p:cNvSpPr/>
          <p:nvPr/>
        </p:nvSpPr>
        <p:spPr>
          <a:xfrm>
            <a:off x="255295" y="1028700"/>
            <a:ext cx="5020450" cy="535667"/>
          </a:xfrm>
          <a:custGeom>
            <a:avLst/>
            <a:gdLst/>
            <a:ahLst/>
            <a:cxnLst/>
            <a:rect l="l" t="t" r="r" b="b"/>
            <a:pathLst>
              <a:path w="5020450" h="535667">
                <a:moveTo>
                  <a:pt x="0" y="0"/>
                </a:moveTo>
                <a:lnTo>
                  <a:pt x="5020450" y="0"/>
                </a:lnTo>
                <a:lnTo>
                  <a:pt x="5020450" y="535667"/>
                </a:lnTo>
                <a:lnTo>
                  <a:pt x="0" y="535667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-11250" r="-11250"/>
            </a:stretch>
          </a:blipFill>
        </p:spPr>
      </p:sp>
      <p:sp>
        <p:nvSpPr>
          <p:cNvPr id="12" name="Freeform 12"/>
          <p:cNvSpPr/>
          <p:nvPr/>
        </p:nvSpPr>
        <p:spPr>
          <a:xfrm>
            <a:off x="16178937" y="216170"/>
            <a:ext cx="2160727" cy="2160727"/>
          </a:xfrm>
          <a:custGeom>
            <a:avLst/>
            <a:gdLst/>
            <a:ahLst/>
            <a:cxnLst/>
            <a:rect l="l" t="t" r="r" b="b"/>
            <a:pathLst>
              <a:path w="2160727" h="2160727">
                <a:moveTo>
                  <a:pt x="0" y="0"/>
                </a:moveTo>
                <a:lnTo>
                  <a:pt x="2160726" y="0"/>
                </a:lnTo>
                <a:lnTo>
                  <a:pt x="2160726" y="2160727"/>
                </a:lnTo>
                <a:lnTo>
                  <a:pt x="0" y="2160727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/>
            </a:stretch>
          </a:blipFill>
        </p:spPr>
      </p:sp>
      <p:sp>
        <p:nvSpPr>
          <p:cNvPr id="13" name="Freeform 13"/>
          <p:cNvSpPr/>
          <p:nvPr/>
        </p:nvSpPr>
        <p:spPr>
          <a:xfrm>
            <a:off x="13923818" y="2160727"/>
            <a:ext cx="4364182" cy="2153601"/>
          </a:xfrm>
          <a:custGeom>
            <a:avLst/>
            <a:gdLst/>
            <a:ahLst/>
            <a:cxnLst/>
            <a:rect l="l" t="t" r="r" b="b"/>
            <a:pathLst>
              <a:path w="4364182" h="2153601">
                <a:moveTo>
                  <a:pt x="0" y="0"/>
                </a:moveTo>
                <a:lnTo>
                  <a:pt x="4364182" y="0"/>
                </a:lnTo>
                <a:lnTo>
                  <a:pt x="4364182" y="2153601"/>
                </a:lnTo>
                <a:lnTo>
                  <a:pt x="0" y="2153601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alphaModFix amt="68000"/>
            </a:blip>
            <a:stretch>
              <a:fillRect/>
            </a:stretch>
          </a:blipFill>
        </p:spPr>
      </p:sp>
      <p:sp>
        <p:nvSpPr>
          <p:cNvPr id="14" name="Rectangle 1">
            <a:extLst>
              <a:ext uri="{FF2B5EF4-FFF2-40B4-BE49-F238E27FC236}">
                <a16:creationId xmlns:a16="http://schemas.microsoft.com/office/drawing/2014/main" id="{582AF289-08DA-A814-07F4-1A59AA5BD77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" y="848873"/>
            <a:ext cx="18059399" cy="884857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52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Heading Now 31-38" panose="020B0604020202020204" charset="0"/>
            </a:endParaRPr>
          </a:p>
          <a:p>
            <a:pPr marL="685800" indent="-685800">
              <a:buFont typeface="Arial" panose="020B0604020202020204" pitchFamily="34" charset="0"/>
              <a:buChar char="•"/>
            </a:pPr>
            <a:r>
              <a:rPr lang="en-US" sz="5200" b="1" dirty="0">
                <a:latin typeface="Heading Now 31-38" panose="020B0604020202020204" charset="0"/>
              </a:rPr>
              <a:t>The Problem</a:t>
            </a:r>
          </a:p>
          <a:p>
            <a:r>
              <a:rPr lang="en-US" sz="5200" dirty="0">
                <a:latin typeface="Heading Now 31-38" panose="020B0604020202020204" charset="0"/>
              </a:rPr>
              <a:t>Families often receive government rations in multiple partial deliveries and struggle to track how much they are entitled to receive.</a:t>
            </a:r>
          </a:p>
          <a:p>
            <a:pPr marL="685800" indent="-685800">
              <a:buFont typeface="Arial" panose="020B0604020202020204" pitchFamily="34" charset="0"/>
              <a:buChar char="•"/>
            </a:pPr>
            <a:r>
              <a:rPr lang="en-US" sz="5200" b="1" dirty="0">
                <a:latin typeface="Heading Now 31-38" panose="020B0604020202020204" charset="0"/>
              </a:rPr>
              <a:t>Why It Matters</a:t>
            </a:r>
          </a:p>
          <a:p>
            <a:r>
              <a:rPr lang="en-US" sz="5200" dirty="0">
                <a:latin typeface="Heading Now 31-38" panose="020B0604020202020204" charset="0"/>
              </a:rPr>
              <a:t>Paper receipts may be handwritten, unclear or lost.</a:t>
            </a:r>
          </a:p>
          <a:p>
            <a:r>
              <a:rPr lang="en-US" sz="5200" dirty="0">
                <a:latin typeface="Heading Now 31-38" panose="020B0604020202020204" charset="0"/>
              </a:rPr>
              <a:t>Families cannot easily calculate their remaining entitlement.</a:t>
            </a:r>
          </a:p>
          <a:p>
            <a:r>
              <a:rPr lang="en-US" sz="5200" dirty="0">
                <a:latin typeface="Heading Now 31-38" panose="020B0604020202020204" charset="0"/>
              </a:rPr>
              <a:t>Missing quantities do not always mean wrongdoing; delays and supply shortages may also be responsible.</a:t>
            </a:r>
          </a:p>
          <a:p>
            <a:pPr marL="685800" indent="-685800">
              <a:buFont typeface="Arial" panose="020B0604020202020204" pitchFamily="34" charset="0"/>
              <a:buChar char="•"/>
            </a:pPr>
            <a:r>
              <a:rPr lang="en-US" sz="5200" b="1" dirty="0">
                <a:latin typeface="Heading Now 31-38" panose="020B0604020202020204" charset="0"/>
              </a:rPr>
              <a:t>Our Challenge</a:t>
            </a:r>
          </a:p>
          <a:p>
            <a:r>
              <a:rPr lang="en-US" sz="5200" dirty="0">
                <a:latin typeface="Heading Now 31-38" panose="020B0604020202020204" charset="0"/>
              </a:rPr>
              <a:t>Build a simple, reliable system that calculates recorded differences, organizes supporting evidence and helps families prepare clear, neutral grievance reports without making unsupported accusations.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0" y="0"/>
            <a:ext cx="18288000" cy="10479517"/>
            <a:chOff x="0" y="0"/>
            <a:chExt cx="24384000" cy="13972689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333397" cy="13147537"/>
            </a:xfrm>
            <a:custGeom>
              <a:avLst/>
              <a:gdLst/>
              <a:ahLst/>
              <a:cxnLst/>
              <a:rect l="l" t="t" r="r" b="b"/>
              <a:pathLst>
                <a:path w="2333397" h="13147537">
                  <a:moveTo>
                    <a:pt x="0" y="0"/>
                  </a:moveTo>
                  <a:lnTo>
                    <a:pt x="2333397" y="0"/>
                  </a:lnTo>
                  <a:lnTo>
                    <a:pt x="2333397" y="13147537"/>
                  </a:lnTo>
                  <a:lnTo>
                    <a:pt x="0" y="131475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</p:sp>
        <p:sp>
          <p:nvSpPr>
            <p:cNvPr id="5" name="Freeform 5"/>
            <p:cNvSpPr/>
            <p:nvPr/>
          </p:nvSpPr>
          <p:spPr>
            <a:xfrm>
              <a:off x="19148440" y="8847622"/>
              <a:ext cx="2333397" cy="2303005"/>
            </a:xfrm>
            <a:custGeom>
              <a:avLst/>
              <a:gdLst/>
              <a:ahLst/>
              <a:cxnLst/>
              <a:rect l="l" t="t" r="r" b="b"/>
              <a:pathLst>
                <a:path w="2333397" h="2303005">
                  <a:moveTo>
                    <a:pt x="0" y="0"/>
                  </a:moveTo>
                  <a:lnTo>
                    <a:pt x="2333397" y="0"/>
                  </a:lnTo>
                  <a:lnTo>
                    <a:pt x="2333397" y="2303005"/>
                  </a:lnTo>
                  <a:lnTo>
                    <a:pt x="0" y="230300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/>
              </a:stretch>
            </a:blipFill>
          </p:spPr>
        </p:sp>
        <p:sp>
          <p:nvSpPr>
            <p:cNvPr id="6" name="Freeform 6"/>
            <p:cNvSpPr/>
            <p:nvPr/>
          </p:nvSpPr>
          <p:spPr>
            <a:xfrm>
              <a:off x="17412976" y="9395831"/>
              <a:ext cx="6971024" cy="4342033"/>
            </a:xfrm>
            <a:custGeom>
              <a:avLst/>
              <a:gdLst/>
              <a:ahLst/>
              <a:cxnLst/>
              <a:rect l="l" t="t" r="r" b="b"/>
              <a:pathLst>
                <a:path w="6971024" h="4342033">
                  <a:moveTo>
                    <a:pt x="0" y="0"/>
                  </a:moveTo>
                  <a:lnTo>
                    <a:pt x="6971024" y="0"/>
                  </a:lnTo>
                  <a:lnTo>
                    <a:pt x="6971024" y="4342033"/>
                  </a:lnTo>
                  <a:lnTo>
                    <a:pt x="0" y="434203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t="-5743"/>
              </a:stretch>
            </a:blipFill>
          </p:spPr>
        </p:sp>
        <p:sp>
          <p:nvSpPr>
            <p:cNvPr id="7" name="Freeform 7"/>
            <p:cNvSpPr/>
            <p:nvPr/>
          </p:nvSpPr>
          <p:spPr>
            <a:xfrm>
              <a:off x="0" y="9395831"/>
              <a:ext cx="1750048" cy="4576859"/>
            </a:xfrm>
            <a:custGeom>
              <a:avLst/>
              <a:gdLst/>
              <a:ahLst/>
              <a:cxnLst/>
              <a:rect l="l" t="t" r="r" b="b"/>
              <a:pathLst>
                <a:path w="1750048" h="4576859">
                  <a:moveTo>
                    <a:pt x="0" y="0"/>
                  </a:moveTo>
                  <a:lnTo>
                    <a:pt x="1750048" y="0"/>
                  </a:lnTo>
                  <a:lnTo>
                    <a:pt x="1750048" y="4576858"/>
                  </a:lnTo>
                  <a:lnTo>
                    <a:pt x="0" y="457685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/>
              </a:stretch>
            </a:blipFill>
          </p:spPr>
        </p:sp>
        <p:sp>
          <p:nvSpPr>
            <p:cNvPr id="8" name="Freeform 8"/>
            <p:cNvSpPr/>
            <p:nvPr/>
          </p:nvSpPr>
          <p:spPr>
            <a:xfrm>
              <a:off x="22633952" y="7273416"/>
              <a:ext cx="1750048" cy="5451418"/>
            </a:xfrm>
            <a:custGeom>
              <a:avLst/>
              <a:gdLst/>
              <a:ahLst/>
              <a:cxnLst/>
              <a:rect l="l" t="t" r="r" b="b"/>
              <a:pathLst>
                <a:path w="1750048" h="5451418">
                  <a:moveTo>
                    <a:pt x="0" y="0"/>
                  </a:moveTo>
                  <a:lnTo>
                    <a:pt x="1750048" y="0"/>
                  </a:lnTo>
                  <a:lnTo>
                    <a:pt x="1750048" y="5451417"/>
                  </a:lnTo>
                  <a:lnTo>
                    <a:pt x="0" y="545141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/>
              </a:stretch>
            </a:blipFill>
          </p:spPr>
        </p:sp>
        <p:sp>
          <p:nvSpPr>
            <p:cNvPr id="9" name="Freeform 9"/>
            <p:cNvSpPr/>
            <p:nvPr/>
          </p:nvSpPr>
          <p:spPr>
            <a:xfrm>
              <a:off x="22275922" y="9395831"/>
              <a:ext cx="1472957" cy="3162988"/>
            </a:xfrm>
            <a:custGeom>
              <a:avLst/>
              <a:gdLst/>
              <a:ahLst/>
              <a:cxnLst/>
              <a:rect l="l" t="t" r="r" b="b"/>
              <a:pathLst>
                <a:path w="1472957" h="3162988">
                  <a:moveTo>
                    <a:pt x="0" y="0"/>
                  </a:moveTo>
                  <a:lnTo>
                    <a:pt x="1472956" y="0"/>
                  </a:lnTo>
                  <a:lnTo>
                    <a:pt x="1472956" y="3162988"/>
                  </a:lnTo>
                  <a:lnTo>
                    <a:pt x="0" y="316298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/>
              </a:stretch>
            </a:blipFill>
          </p:spPr>
        </p:sp>
      </p:grpSp>
      <p:sp>
        <p:nvSpPr>
          <p:cNvPr id="10" name="TextBox 10"/>
          <p:cNvSpPr txBox="1"/>
          <p:nvPr/>
        </p:nvSpPr>
        <p:spPr>
          <a:xfrm>
            <a:off x="0" y="-57150"/>
            <a:ext cx="16111378" cy="96180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7500"/>
              </a:lnSpc>
            </a:pPr>
            <a:r>
              <a:rPr lang="en-US" sz="7500" b="1" spc="150" dirty="0">
                <a:solidFill>
                  <a:srgbClr val="172243"/>
                </a:solidFill>
                <a:latin typeface="Heading Now 31-38 Bold"/>
                <a:ea typeface="Heading Now 31-38 Bold"/>
                <a:cs typeface="Heading Now 31-38 Bold"/>
                <a:sym typeface="Heading Now 31-38 Bold"/>
              </a:rPr>
              <a:t>IDEA TITLE / PROPOSED SOLUTION</a:t>
            </a:r>
          </a:p>
        </p:txBody>
      </p:sp>
      <p:sp>
        <p:nvSpPr>
          <p:cNvPr id="11" name="Freeform 11"/>
          <p:cNvSpPr/>
          <p:nvPr/>
        </p:nvSpPr>
        <p:spPr>
          <a:xfrm>
            <a:off x="255295" y="1028700"/>
            <a:ext cx="5020450" cy="535667"/>
          </a:xfrm>
          <a:custGeom>
            <a:avLst/>
            <a:gdLst/>
            <a:ahLst/>
            <a:cxnLst/>
            <a:rect l="l" t="t" r="r" b="b"/>
            <a:pathLst>
              <a:path w="5020450" h="535667">
                <a:moveTo>
                  <a:pt x="0" y="0"/>
                </a:moveTo>
                <a:lnTo>
                  <a:pt x="5020450" y="0"/>
                </a:lnTo>
                <a:lnTo>
                  <a:pt x="5020450" y="535667"/>
                </a:lnTo>
                <a:lnTo>
                  <a:pt x="0" y="535667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-11250" r="-11250"/>
            </a:stretch>
          </a:blipFill>
        </p:spPr>
      </p:sp>
      <p:sp>
        <p:nvSpPr>
          <p:cNvPr id="12" name="Freeform 12"/>
          <p:cNvSpPr/>
          <p:nvPr/>
        </p:nvSpPr>
        <p:spPr>
          <a:xfrm>
            <a:off x="16178937" y="216170"/>
            <a:ext cx="2160727" cy="2160727"/>
          </a:xfrm>
          <a:custGeom>
            <a:avLst/>
            <a:gdLst/>
            <a:ahLst/>
            <a:cxnLst/>
            <a:rect l="l" t="t" r="r" b="b"/>
            <a:pathLst>
              <a:path w="2160727" h="2160727">
                <a:moveTo>
                  <a:pt x="0" y="0"/>
                </a:moveTo>
                <a:lnTo>
                  <a:pt x="2160726" y="0"/>
                </a:lnTo>
                <a:lnTo>
                  <a:pt x="2160726" y="2160727"/>
                </a:lnTo>
                <a:lnTo>
                  <a:pt x="0" y="2160727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/>
            </a:stretch>
          </a:blipFill>
        </p:spPr>
      </p:sp>
      <p:sp>
        <p:nvSpPr>
          <p:cNvPr id="13" name="Freeform 13"/>
          <p:cNvSpPr/>
          <p:nvPr/>
        </p:nvSpPr>
        <p:spPr>
          <a:xfrm>
            <a:off x="13923818" y="2160727"/>
            <a:ext cx="4364182" cy="2153601"/>
          </a:xfrm>
          <a:custGeom>
            <a:avLst/>
            <a:gdLst/>
            <a:ahLst/>
            <a:cxnLst/>
            <a:rect l="l" t="t" r="r" b="b"/>
            <a:pathLst>
              <a:path w="4364182" h="2153601">
                <a:moveTo>
                  <a:pt x="0" y="0"/>
                </a:moveTo>
                <a:lnTo>
                  <a:pt x="4364182" y="0"/>
                </a:lnTo>
                <a:lnTo>
                  <a:pt x="4364182" y="2153601"/>
                </a:lnTo>
                <a:lnTo>
                  <a:pt x="0" y="2153601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alphaModFix amt="68000"/>
            </a:blip>
            <a:stretch>
              <a:fillRect/>
            </a:stretch>
          </a:blipFill>
        </p:spPr>
      </p:sp>
      <p:sp>
        <p:nvSpPr>
          <p:cNvPr id="14" name="Rectangle 1">
            <a:extLst>
              <a:ext uri="{FF2B5EF4-FFF2-40B4-BE49-F238E27FC236}">
                <a16:creationId xmlns:a16="http://schemas.microsoft.com/office/drawing/2014/main" id="{293EBEF6-B2A7-FCB5-FD0B-37793FB4798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5295" y="1295282"/>
            <a:ext cx="18288000" cy="109106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US" sz="4900" b="1" dirty="0" err="1">
                <a:latin typeface="Heading Now 31-38" panose="020B0604020202020204" charset="0"/>
              </a:rPr>
              <a:t>RationSaathi</a:t>
            </a:r>
            <a:r>
              <a:rPr lang="en-US" sz="4900" b="1" dirty="0">
                <a:latin typeface="Heading Now 31-38" panose="020B0604020202020204" charset="0"/>
              </a:rPr>
              <a:t> — Your Smart Ration Record Book</a:t>
            </a:r>
          </a:p>
          <a:p>
            <a:r>
              <a:rPr lang="en-US" sz="4900" dirty="0" err="1">
                <a:latin typeface="Heading Now 31-38" panose="020B0604020202020204" charset="0"/>
              </a:rPr>
              <a:t>RationSaathi</a:t>
            </a:r>
            <a:r>
              <a:rPr lang="en-US" sz="4900" dirty="0">
                <a:latin typeface="Heading Now 31-38" panose="020B0604020202020204" charset="0"/>
              </a:rPr>
              <a:t> is an AI-assisted application that helps families track their ration entitlement and verify recorded deliveries.</a:t>
            </a:r>
          </a:p>
          <a:p>
            <a:r>
              <a:rPr lang="en-US" sz="4900" b="1" dirty="0">
                <a:latin typeface="Heading Now 31-38" panose="020B0604020202020204" charset="0"/>
              </a:rPr>
              <a:t>How it works:</a:t>
            </a:r>
            <a:endParaRPr lang="en-US" sz="4900" dirty="0">
              <a:latin typeface="Heading Now 31-38" panose="020B0604020202020204" charset="0"/>
            </a:endParaRPr>
          </a:p>
          <a:p>
            <a:pPr marL="914400" indent="-914400">
              <a:buFont typeface="+mj-lt"/>
              <a:buAutoNum type="arabicPeriod"/>
            </a:pPr>
            <a:r>
              <a:rPr lang="en-US" sz="4900" b="1" dirty="0">
                <a:latin typeface="Heading Now 31-38" panose="020B0604020202020204" charset="0"/>
              </a:rPr>
              <a:t>Set Entitlement:</a:t>
            </a:r>
            <a:r>
              <a:rPr lang="en-US" sz="4900" dirty="0">
                <a:latin typeface="Heading Now 31-38" panose="020B0604020202020204" charset="0"/>
              </a:rPr>
              <a:t> Enter the applicable ration rule, family size and distribution period.</a:t>
            </a:r>
          </a:p>
          <a:p>
            <a:pPr marL="914400" indent="-914400">
              <a:buFont typeface="+mj-lt"/>
              <a:buAutoNum type="arabicPeriod"/>
            </a:pPr>
            <a:r>
              <a:rPr lang="en-US" sz="4900" b="1" dirty="0">
                <a:latin typeface="Heading Now 31-38" panose="020B0604020202020204" charset="0"/>
              </a:rPr>
              <a:t>Upload or Record:</a:t>
            </a:r>
            <a:r>
              <a:rPr lang="en-US" sz="4900" dirty="0">
                <a:latin typeface="Heading Now 31-38" panose="020B0604020202020204" charset="0"/>
              </a:rPr>
              <a:t> Add receipt details or manually enter each delivery.</a:t>
            </a:r>
          </a:p>
          <a:p>
            <a:pPr marL="914400" indent="-914400">
              <a:buFont typeface="+mj-lt"/>
              <a:buAutoNum type="arabicPeriod"/>
            </a:pPr>
            <a:r>
              <a:rPr lang="en-US" sz="4900" b="1" dirty="0">
                <a:latin typeface="Heading Now 31-38" panose="020B0604020202020204" charset="0"/>
              </a:rPr>
              <a:t>AI Suggests:</a:t>
            </a:r>
            <a:r>
              <a:rPr lang="en-US" sz="4900" dirty="0">
                <a:latin typeface="Heading Now 31-38" panose="020B0604020202020204" charset="0"/>
              </a:rPr>
              <a:t> Receipt scanning can suggest the date, commodity and quantity.</a:t>
            </a:r>
          </a:p>
          <a:p>
            <a:pPr marL="914400" indent="-914400">
              <a:buFont typeface="+mj-lt"/>
              <a:buAutoNum type="arabicPeriod"/>
            </a:pPr>
            <a:r>
              <a:rPr lang="en-US" sz="4900" b="1" dirty="0">
                <a:latin typeface="Heading Now 31-38" panose="020B0604020202020204" charset="0"/>
              </a:rPr>
              <a:t>Human Confirms:</a:t>
            </a:r>
            <a:r>
              <a:rPr lang="en-US" sz="4900" dirty="0">
                <a:latin typeface="Heading Now 31-38" panose="020B0604020202020204" charset="0"/>
              </a:rPr>
              <a:t> Users review and confirm every extracted value before it enters the calculation.</a:t>
            </a:r>
          </a:p>
          <a:p>
            <a:pPr marL="914400" indent="-914400">
              <a:buFont typeface="+mj-lt"/>
              <a:buAutoNum type="arabicPeriod"/>
            </a:pPr>
            <a:r>
              <a:rPr lang="en-US" sz="4900" b="1" dirty="0">
                <a:latin typeface="Heading Now 31-38" panose="020B0604020202020204" charset="0"/>
              </a:rPr>
              <a:t>Calculate &amp; Report:</a:t>
            </a:r>
            <a:r>
              <a:rPr lang="en-US" sz="4900" dirty="0">
                <a:latin typeface="Heading Now 31-38" panose="020B0604020202020204" charset="0"/>
              </a:rPr>
              <a:t> The system totals confirmed deliveries, identifies differences and generates an evidence-linked PDF report.</a:t>
            </a:r>
          </a:p>
          <a:p>
            <a:r>
              <a:rPr lang="en-US" sz="4900" b="1" dirty="0">
                <a:latin typeface="Heading Now 31-38" panose="020B0604020202020204" charset="0"/>
              </a:rPr>
              <a:t>Example:</a:t>
            </a:r>
            <a:r>
              <a:rPr lang="en-US" sz="4900" dirty="0">
                <a:latin typeface="Heading Now 31-38" panose="020B0604020202020204" charset="0"/>
              </a:rPr>
              <a:t> If the entered entitlement is 20 kg and confirmed deliveries total 15 kg, </a:t>
            </a:r>
            <a:r>
              <a:rPr lang="en-US" sz="4900" dirty="0" err="1">
                <a:latin typeface="Heading Now 31-38" panose="020B0604020202020204" charset="0"/>
              </a:rPr>
              <a:t>RationSaathi</a:t>
            </a:r>
            <a:r>
              <a:rPr lang="en-US" sz="4900" dirty="0">
                <a:latin typeface="Heading Now 31-38" panose="020B0604020202020204" charset="0"/>
              </a:rPr>
              <a:t> reports a </a:t>
            </a:r>
            <a:r>
              <a:rPr lang="en-US" sz="4900" b="1" dirty="0">
                <a:latin typeface="Heading Now 31-38" panose="020B0604020202020204" charset="0"/>
              </a:rPr>
              <a:t>5 kg documented difference requiring verification</a:t>
            </a:r>
            <a:r>
              <a:rPr lang="en-US" sz="4900" dirty="0">
                <a:latin typeface="Heading Now 31-38" panose="020B0604020202020204" charset="0"/>
              </a:rPr>
              <a:t>.</a:t>
            </a:r>
          </a:p>
          <a:p>
            <a:endParaRPr lang="en-US" sz="5200" dirty="0">
              <a:latin typeface="Heading Now 31-38" panose="020B0604020202020204" charset="0"/>
            </a:endParaRPr>
          </a:p>
          <a:p>
            <a:endParaRPr lang="en-US" sz="5400" dirty="0">
              <a:latin typeface="Heading Now 31-38" panose="020B0604020202020204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-5469" y="0"/>
            <a:ext cx="18288000" cy="10479517"/>
            <a:chOff x="0" y="0"/>
            <a:chExt cx="24384000" cy="13972689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333397" cy="13147537"/>
            </a:xfrm>
            <a:custGeom>
              <a:avLst/>
              <a:gdLst/>
              <a:ahLst/>
              <a:cxnLst/>
              <a:rect l="l" t="t" r="r" b="b"/>
              <a:pathLst>
                <a:path w="2333397" h="13147537">
                  <a:moveTo>
                    <a:pt x="0" y="0"/>
                  </a:moveTo>
                  <a:lnTo>
                    <a:pt x="2333397" y="0"/>
                  </a:lnTo>
                  <a:lnTo>
                    <a:pt x="2333397" y="13147537"/>
                  </a:lnTo>
                  <a:lnTo>
                    <a:pt x="0" y="131475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</p:sp>
        <p:sp>
          <p:nvSpPr>
            <p:cNvPr id="5" name="Freeform 5"/>
            <p:cNvSpPr/>
            <p:nvPr/>
          </p:nvSpPr>
          <p:spPr>
            <a:xfrm>
              <a:off x="19148440" y="8847622"/>
              <a:ext cx="2333397" cy="2303005"/>
            </a:xfrm>
            <a:custGeom>
              <a:avLst/>
              <a:gdLst/>
              <a:ahLst/>
              <a:cxnLst/>
              <a:rect l="l" t="t" r="r" b="b"/>
              <a:pathLst>
                <a:path w="2333397" h="2303005">
                  <a:moveTo>
                    <a:pt x="0" y="0"/>
                  </a:moveTo>
                  <a:lnTo>
                    <a:pt x="2333397" y="0"/>
                  </a:lnTo>
                  <a:lnTo>
                    <a:pt x="2333397" y="2303005"/>
                  </a:lnTo>
                  <a:lnTo>
                    <a:pt x="0" y="230300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/>
              </a:stretch>
            </a:blipFill>
          </p:spPr>
        </p:sp>
        <p:sp>
          <p:nvSpPr>
            <p:cNvPr id="6" name="Freeform 6"/>
            <p:cNvSpPr/>
            <p:nvPr/>
          </p:nvSpPr>
          <p:spPr>
            <a:xfrm>
              <a:off x="17412976" y="9395831"/>
              <a:ext cx="6971024" cy="4342033"/>
            </a:xfrm>
            <a:custGeom>
              <a:avLst/>
              <a:gdLst/>
              <a:ahLst/>
              <a:cxnLst/>
              <a:rect l="l" t="t" r="r" b="b"/>
              <a:pathLst>
                <a:path w="6971024" h="4342033">
                  <a:moveTo>
                    <a:pt x="0" y="0"/>
                  </a:moveTo>
                  <a:lnTo>
                    <a:pt x="6971024" y="0"/>
                  </a:lnTo>
                  <a:lnTo>
                    <a:pt x="6971024" y="4342033"/>
                  </a:lnTo>
                  <a:lnTo>
                    <a:pt x="0" y="434203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t="-5743"/>
              </a:stretch>
            </a:blipFill>
          </p:spPr>
        </p:sp>
        <p:sp>
          <p:nvSpPr>
            <p:cNvPr id="7" name="Freeform 7"/>
            <p:cNvSpPr/>
            <p:nvPr/>
          </p:nvSpPr>
          <p:spPr>
            <a:xfrm>
              <a:off x="0" y="9395831"/>
              <a:ext cx="1750048" cy="4576859"/>
            </a:xfrm>
            <a:custGeom>
              <a:avLst/>
              <a:gdLst/>
              <a:ahLst/>
              <a:cxnLst/>
              <a:rect l="l" t="t" r="r" b="b"/>
              <a:pathLst>
                <a:path w="1750048" h="4576859">
                  <a:moveTo>
                    <a:pt x="0" y="0"/>
                  </a:moveTo>
                  <a:lnTo>
                    <a:pt x="1750048" y="0"/>
                  </a:lnTo>
                  <a:lnTo>
                    <a:pt x="1750048" y="4576858"/>
                  </a:lnTo>
                  <a:lnTo>
                    <a:pt x="0" y="457685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/>
              </a:stretch>
            </a:blipFill>
          </p:spPr>
        </p:sp>
        <p:sp>
          <p:nvSpPr>
            <p:cNvPr id="8" name="Freeform 8"/>
            <p:cNvSpPr/>
            <p:nvPr/>
          </p:nvSpPr>
          <p:spPr>
            <a:xfrm>
              <a:off x="22633952" y="7273416"/>
              <a:ext cx="1750048" cy="5451418"/>
            </a:xfrm>
            <a:custGeom>
              <a:avLst/>
              <a:gdLst/>
              <a:ahLst/>
              <a:cxnLst/>
              <a:rect l="l" t="t" r="r" b="b"/>
              <a:pathLst>
                <a:path w="1750048" h="5451418">
                  <a:moveTo>
                    <a:pt x="0" y="0"/>
                  </a:moveTo>
                  <a:lnTo>
                    <a:pt x="1750048" y="0"/>
                  </a:lnTo>
                  <a:lnTo>
                    <a:pt x="1750048" y="5451417"/>
                  </a:lnTo>
                  <a:lnTo>
                    <a:pt x="0" y="545141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/>
              </a:stretch>
            </a:blipFill>
          </p:spPr>
        </p:sp>
        <p:sp>
          <p:nvSpPr>
            <p:cNvPr id="9" name="Freeform 9"/>
            <p:cNvSpPr/>
            <p:nvPr/>
          </p:nvSpPr>
          <p:spPr>
            <a:xfrm>
              <a:off x="22275922" y="9395831"/>
              <a:ext cx="1472957" cy="3162988"/>
            </a:xfrm>
            <a:custGeom>
              <a:avLst/>
              <a:gdLst/>
              <a:ahLst/>
              <a:cxnLst/>
              <a:rect l="l" t="t" r="r" b="b"/>
              <a:pathLst>
                <a:path w="1472957" h="3162988">
                  <a:moveTo>
                    <a:pt x="0" y="0"/>
                  </a:moveTo>
                  <a:lnTo>
                    <a:pt x="1472956" y="0"/>
                  </a:lnTo>
                  <a:lnTo>
                    <a:pt x="1472956" y="3162988"/>
                  </a:lnTo>
                  <a:lnTo>
                    <a:pt x="0" y="316298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/>
              </a:stretch>
            </a:blipFill>
          </p:spPr>
        </p:sp>
      </p:grpSp>
      <p:sp>
        <p:nvSpPr>
          <p:cNvPr id="10" name="TextBox 10"/>
          <p:cNvSpPr txBox="1"/>
          <p:nvPr/>
        </p:nvSpPr>
        <p:spPr>
          <a:xfrm>
            <a:off x="0" y="-57151"/>
            <a:ext cx="16701473" cy="96180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7500"/>
              </a:lnSpc>
            </a:pPr>
            <a:r>
              <a:rPr lang="en-US" sz="7500" b="1" spc="150" dirty="0">
                <a:solidFill>
                  <a:srgbClr val="172243"/>
                </a:solidFill>
                <a:latin typeface="Heading Now 31-38 Bold"/>
                <a:ea typeface="Heading Now 31-38 Bold"/>
                <a:cs typeface="Heading Now 31-38 Bold"/>
                <a:sym typeface="Heading Now 31-38 Bold"/>
              </a:rPr>
              <a:t>TECHNICAL APPROACH</a:t>
            </a:r>
          </a:p>
        </p:txBody>
      </p:sp>
      <p:sp>
        <p:nvSpPr>
          <p:cNvPr id="11" name="Freeform 11"/>
          <p:cNvSpPr/>
          <p:nvPr/>
        </p:nvSpPr>
        <p:spPr>
          <a:xfrm>
            <a:off x="257365" y="1028700"/>
            <a:ext cx="5020450" cy="535667"/>
          </a:xfrm>
          <a:custGeom>
            <a:avLst/>
            <a:gdLst/>
            <a:ahLst/>
            <a:cxnLst/>
            <a:rect l="l" t="t" r="r" b="b"/>
            <a:pathLst>
              <a:path w="5020450" h="535667">
                <a:moveTo>
                  <a:pt x="0" y="0"/>
                </a:moveTo>
                <a:lnTo>
                  <a:pt x="5020450" y="0"/>
                </a:lnTo>
                <a:lnTo>
                  <a:pt x="5020450" y="535667"/>
                </a:lnTo>
                <a:lnTo>
                  <a:pt x="0" y="535667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-11250" r="-11250"/>
            </a:stretch>
          </a:blipFill>
        </p:spPr>
      </p:sp>
      <p:sp>
        <p:nvSpPr>
          <p:cNvPr id="12" name="Freeform 12"/>
          <p:cNvSpPr/>
          <p:nvPr/>
        </p:nvSpPr>
        <p:spPr>
          <a:xfrm>
            <a:off x="13923818" y="2160727"/>
            <a:ext cx="4364182" cy="2153601"/>
          </a:xfrm>
          <a:custGeom>
            <a:avLst/>
            <a:gdLst/>
            <a:ahLst/>
            <a:cxnLst/>
            <a:rect l="l" t="t" r="r" b="b"/>
            <a:pathLst>
              <a:path w="4364182" h="2153601">
                <a:moveTo>
                  <a:pt x="0" y="0"/>
                </a:moveTo>
                <a:lnTo>
                  <a:pt x="4364182" y="0"/>
                </a:lnTo>
                <a:lnTo>
                  <a:pt x="4364182" y="2153601"/>
                </a:lnTo>
                <a:lnTo>
                  <a:pt x="0" y="2153601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alphaModFix amt="68000"/>
            </a:blip>
            <a:stretch>
              <a:fillRect/>
            </a:stretch>
          </a:blipFill>
        </p:spPr>
      </p:sp>
      <p:sp>
        <p:nvSpPr>
          <p:cNvPr id="13" name="Freeform 13"/>
          <p:cNvSpPr/>
          <p:nvPr/>
        </p:nvSpPr>
        <p:spPr>
          <a:xfrm>
            <a:off x="16178937" y="216170"/>
            <a:ext cx="2160727" cy="2160727"/>
          </a:xfrm>
          <a:custGeom>
            <a:avLst/>
            <a:gdLst/>
            <a:ahLst/>
            <a:cxnLst/>
            <a:rect l="l" t="t" r="r" b="b"/>
            <a:pathLst>
              <a:path w="2160727" h="2160727">
                <a:moveTo>
                  <a:pt x="0" y="0"/>
                </a:moveTo>
                <a:lnTo>
                  <a:pt x="2160726" y="0"/>
                </a:lnTo>
                <a:lnTo>
                  <a:pt x="2160726" y="2160727"/>
                </a:lnTo>
                <a:lnTo>
                  <a:pt x="0" y="2160727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/>
            </a:stretch>
          </a:blipFill>
        </p:spPr>
      </p:sp>
      <p:sp>
        <p:nvSpPr>
          <p:cNvPr id="14" name="Rectangle 1">
            <a:extLst>
              <a:ext uri="{FF2B5EF4-FFF2-40B4-BE49-F238E27FC236}">
                <a16:creationId xmlns:a16="http://schemas.microsoft.com/office/drawing/2014/main" id="{11E3D832-5347-211F-BAC7-F07A4303495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7365" y="2020837"/>
            <a:ext cx="18082299" cy="669414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US" sz="5400" b="1" dirty="0">
                <a:latin typeface="Heading Now 31-38" panose="020B0604020202020204" charset="0"/>
              </a:rPr>
              <a:t>Technology Stack</a:t>
            </a:r>
          </a:p>
          <a:p>
            <a:r>
              <a:rPr lang="en-US" sz="5400" b="1" dirty="0">
                <a:latin typeface="Heading Now 31-38" panose="020B0604020202020204" charset="0"/>
              </a:rPr>
              <a:t>Frontend:</a:t>
            </a:r>
            <a:r>
              <a:rPr lang="en-US" sz="5400" dirty="0">
                <a:latin typeface="Heading Now 31-38" panose="020B0604020202020204" charset="0"/>
              </a:rPr>
              <a:t> </a:t>
            </a:r>
            <a:r>
              <a:rPr lang="en-US" sz="5400" dirty="0" err="1">
                <a:latin typeface="Heading Now 31-38" panose="020B0604020202020204" charset="0"/>
              </a:rPr>
              <a:t>Streamlit</a:t>
            </a:r>
            <a:r>
              <a:rPr lang="en-US" sz="5400" dirty="0">
                <a:latin typeface="Heading Now 31-38" panose="020B0604020202020204" charset="0"/>
              </a:rPr>
              <a:t> — simple, interactive web interface.</a:t>
            </a:r>
          </a:p>
          <a:p>
            <a:r>
              <a:rPr lang="en-US" sz="5400" b="1" dirty="0">
                <a:latin typeface="Heading Now 31-38" panose="020B0604020202020204" charset="0"/>
              </a:rPr>
              <a:t>Backend:</a:t>
            </a:r>
            <a:r>
              <a:rPr lang="en-US" sz="5400" dirty="0">
                <a:latin typeface="Heading Now 31-38" panose="020B0604020202020204" charset="0"/>
              </a:rPr>
              <a:t> Python — validation, calculations and report generation.</a:t>
            </a:r>
          </a:p>
          <a:p>
            <a:r>
              <a:rPr lang="en-US" sz="5400" b="1" dirty="0">
                <a:latin typeface="Heading Now 31-38" panose="020B0604020202020204" charset="0"/>
              </a:rPr>
              <a:t>Database:</a:t>
            </a:r>
            <a:r>
              <a:rPr lang="en-US" sz="5400" dirty="0">
                <a:latin typeface="Heading Now 31-38" panose="020B0604020202020204" charset="0"/>
              </a:rPr>
              <a:t> SQLite — stores entitlement rules and delivery records.</a:t>
            </a:r>
          </a:p>
          <a:p>
            <a:r>
              <a:rPr lang="en-US" sz="5400" b="1" dirty="0">
                <a:latin typeface="Heading Now 31-38" panose="020B0604020202020204" charset="0"/>
              </a:rPr>
              <a:t>Data Processing:</a:t>
            </a:r>
            <a:r>
              <a:rPr lang="en-US" sz="5400" dirty="0">
                <a:latin typeface="Heading Now 31-38" panose="020B0604020202020204" charset="0"/>
              </a:rPr>
              <a:t> Pandas — organizes and summarizes delivery records.</a:t>
            </a:r>
          </a:p>
          <a:p>
            <a:r>
              <a:rPr lang="en-US" sz="5400" b="1" dirty="0">
                <a:latin typeface="Heading Now 31-38" panose="020B0604020202020204" charset="0"/>
              </a:rPr>
              <a:t>AI Integration:</a:t>
            </a:r>
            <a:r>
              <a:rPr lang="en-US" sz="5400" dirty="0">
                <a:latin typeface="Heading Now 31-38" panose="020B0604020202020204" charset="0"/>
              </a:rPr>
              <a:t> OCR and optional language-model assistance for receipt extraction and simple explanations.</a:t>
            </a:r>
          </a:p>
          <a:p>
            <a:r>
              <a:rPr lang="en-US" sz="5400" b="1" dirty="0">
                <a:latin typeface="Heading Now 31-38" panose="020B0604020202020204" charset="0"/>
              </a:rPr>
              <a:t>Report Generation:</a:t>
            </a:r>
            <a:r>
              <a:rPr lang="en-US" sz="5400" dirty="0">
                <a:latin typeface="Heading Now 31-38" panose="020B0604020202020204" charset="0"/>
              </a:rPr>
              <a:t> </a:t>
            </a:r>
            <a:r>
              <a:rPr lang="en-US" sz="5400" dirty="0" err="1">
                <a:latin typeface="Heading Now 31-38" panose="020B0604020202020204" charset="0"/>
              </a:rPr>
              <a:t>ReportLab</a:t>
            </a:r>
            <a:r>
              <a:rPr lang="en-US" sz="5400" dirty="0">
                <a:latin typeface="Heading Now 31-38" panose="020B0604020202020204" charset="0"/>
              </a:rPr>
              <a:t> — creates downloadable PDF reports.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FDEE3008-5B43-6022-4B15-63F2A0F4C9AD}"/>
              </a:ext>
            </a:extLst>
          </p:cNvPr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3D73DDD-9202-AED1-C637-6E71E4F45C4C}"/>
              </a:ext>
            </a:extLst>
          </p:cNvPr>
          <p:cNvSpPr txBox="1"/>
          <p:nvPr/>
        </p:nvSpPr>
        <p:spPr>
          <a:xfrm>
            <a:off x="228600" y="419101"/>
            <a:ext cx="17373600" cy="84023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4500" b="1" dirty="0">
                <a:latin typeface="Heading Now 31-38" panose="020B0604020202020204" charset="0"/>
              </a:rPr>
              <a:t>System Workflow</a:t>
            </a:r>
          </a:p>
          <a:p>
            <a:pPr>
              <a:buNone/>
            </a:pPr>
            <a:r>
              <a:rPr lang="en-US" sz="4500" dirty="0">
                <a:latin typeface="Heading Now 31-38" panose="020B0604020202020204" charset="0"/>
              </a:rPr>
              <a:t>User Input / Receipt Upload</a:t>
            </a:r>
            <a:br>
              <a:rPr lang="en-US" sz="4500" dirty="0">
                <a:latin typeface="Heading Now 31-38" panose="020B0604020202020204" charset="0"/>
              </a:rPr>
            </a:br>
            <a:r>
              <a:rPr lang="en-US" sz="4500" dirty="0">
                <a:latin typeface="Heading Now 31-38" panose="020B0604020202020204" charset="0"/>
              </a:rPr>
              <a:t>↓</a:t>
            </a:r>
            <a:br>
              <a:rPr lang="en-US" sz="4500" dirty="0">
                <a:latin typeface="Heading Now 31-38" panose="020B0604020202020204" charset="0"/>
              </a:rPr>
            </a:br>
            <a:r>
              <a:rPr lang="en-US" sz="4500" dirty="0">
                <a:latin typeface="Heading Now 31-38" panose="020B0604020202020204" charset="0"/>
              </a:rPr>
              <a:t>Receipt Extraction — AI Suggestions</a:t>
            </a:r>
            <a:br>
              <a:rPr lang="en-US" sz="4500" dirty="0">
                <a:latin typeface="Heading Now 31-38" panose="020B0604020202020204" charset="0"/>
              </a:rPr>
            </a:br>
            <a:r>
              <a:rPr lang="en-US" sz="4500" dirty="0">
                <a:latin typeface="Heading Now 31-38" panose="020B0604020202020204" charset="0"/>
              </a:rPr>
              <a:t>↓</a:t>
            </a:r>
            <a:br>
              <a:rPr lang="en-US" sz="4500" dirty="0">
                <a:latin typeface="Heading Now 31-38" panose="020B0604020202020204" charset="0"/>
              </a:rPr>
            </a:br>
            <a:r>
              <a:rPr lang="en-US" sz="4500" b="1" dirty="0">
                <a:latin typeface="Heading Now 31-38" panose="020B0604020202020204" charset="0"/>
              </a:rPr>
              <a:t>User Review &amp; Confirmation</a:t>
            </a:r>
            <a:br>
              <a:rPr lang="en-US" sz="4500" dirty="0">
                <a:latin typeface="Heading Now 31-38" panose="020B0604020202020204" charset="0"/>
              </a:rPr>
            </a:br>
            <a:r>
              <a:rPr lang="en-US" sz="4500" dirty="0">
                <a:latin typeface="Heading Now 31-38" panose="020B0604020202020204" charset="0"/>
              </a:rPr>
              <a:t>↓</a:t>
            </a:r>
            <a:br>
              <a:rPr lang="en-US" sz="4500" dirty="0">
                <a:latin typeface="Heading Now 31-38" panose="020B0604020202020204" charset="0"/>
              </a:rPr>
            </a:br>
            <a:r>
              <a:rPr lang="en-US" sz="4500" dirty="0">
                <a:latin typeface="Heading Now 31-38" panose="020B0604020202020204" charset="0"/>
              </a:rPr>
              <a:t>Python Validation &amp; Exact Arithmetic</a:t>
            </a:r>
            <a:br>
              <a:rPr lang="en-US" sz="4500" dirty="0">
                <a:latin typeface="Heading Now 31-38" panose="020B0604020202020204" charset="0"/>
              </a:rPr>
            </a:br>
            <a:r>
              <a:rPr lang="en-US" sz="4500" dirty="0">
                <a:latin typeface="Heading Now 31-38" panose="020B0604020202020204" charset="0"/>
              </a:rPr>
              <a:t>↓</a:t>
            </a:r>
            <a:br>
              <a:rPr lang="en-US" sz="4500" dirty="0">
                <a:latin typeface="Heading Now 31-38" panose="020B0604020202020204" charset="0"/>
              </a:rPr>
            </a:br>
            <a:r>
              <a:rPr lang="en-US" sz="4500" dirty="0">
                <a:latin typeface="Heading Now 31-38" panose="020B0604020202020204" charset="0"/>
              </a:rPr>
              <a:t>SQLite — Verified Records and Evidence References</a:t>
            </a:r>
            <a:br>
              <a:rPr lang="en-US" sz="4500" dirty="0">
                <a:latin typeface="Heading Now 31-38" panose="020B0604020202020204" charset="0"/>
              </a:rPr>
            </a:br>
            <a:r>
              <a:rPr lang="en-US" sz="4500" dirty="0">
                <a:latin typeface="Heading Now 31-38" panose="020B0604020202020204" charset="0"/>
              </a:rPr>
              <a:t>↓</a:t>
            </a:r>
            <a:br>
              <a:rPr lang="en-US" sz="4500" dirty="0">
                <a:latin typeface="Heading Now 31-38" panose="020B0604020202020204" charset="0"/>
              </a:rPr>
            </a:br>
            <a:r>
              <a:rPr lang="en-US" sz="4500" dirty="0">
                <a:latin typeface="Heading Now 31-38" panose="020B0604020202020204" charset="0"/>
              </a:rPr>
              <a:t>Dashboard + Evidence-Linked PDF Report</a:t>
            </a:r>
          </a:p>
        </p:txBody>
      </p:sp>
    </p:spTree>
    <p:extLst>
      <p:ext uri="{BB962C8B-B14F-4D97-AF65-F5344CB8AC3E}">
        <p14:creationId xmlns:p14="http://schemas.microsoft.com/office/powerpoint/2010/main" val="69887832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 2">
            <a:extLst>
              <a:ext uri="{FF2B5EF4-FFF2-40B4-BE49-F238E27FC236}">
                <a16:creationId xmlns:a16="http://schemas.microsoft.com/office/drawing/2014/main" id="{CA2C28BC-0F7C-96DD-A8E2-F9F365B3D609}"/>
              </a:ext>
            </a:extLst>
          </p:cNvPr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 sz="5400" b="1" dirty="0">
              <a:latin typeface="Heading Now 31-38" panose="020B0604020202020204" charset="0"/>
            </a:endParaRPr>
          </a:p>
          <a:p>
            <a:endParaRPr lang="en-US" sz="5400" b="1" dirty="0">
              <a:latin typeface="Heading Now 31-38" panose="020B0604020202020204" charset="0"/>
            </a:endParaRPr>
          </a:p>
          <a:p>
            <a:endParaRPr lang="en-US" sz="5400" b="1" dirty="0">
              <a:latin typeface="Heading Now 31-38" panose="020B0604020202020204" charset="0"/>
            </a:endParaRPr>
          </a:p>
          <a:p>
            <a:r>
              <a:rPr lang="en-US" sz="5400" b="1" dirty="0">
                <a:latin typeface="Heading Now 31-38" panose="020B0604020202020204" charset="0"/>
              </a:rPr>
              <a:t>Our Core Safety Rule</a:t>
            </a:r>
          </a:p>
          <a:p>
            <a:r>
              <a:rPr lang="en-US" sz="5400" b="1" dirty="0">
                <a:latin typeface="Heading Now 31-38" panose="020B0604020202020204" charset="0"/>
              </a:rPr>
              <a:t>AI suggests. Humans confirm. Code calculates. Evidence supports.</a:t>
            </a:r>
            <a:endParaRPr lang="en-US" sz="5400" dirty="0">
              <a:latin typeface="Heading Now 31-38" panose="020B0604020202020204" charset="0"/>
            </a:endParaRPr>
          </a:p>
          <a:p>
            <a:r>
              <a:rPr lang="en-US" sz="5400" dirty="0">
                <a:latin typeface="Heading Now 31-38" panose="020B0604020202020204" charset="0"/>
              </a:rPr>
              <a:t>Unconfirmed AI-extracted values cannot be used in the final reconciliation. Calculations use standard deterministic code, and every reported difference remains traceable to the entered rule and delivery records.</a:t>
            </a:r>
          </a:p>
        </p:txBody>
      </p:sp>
    </p:spTree>
    <p:extLst>
      <p:ext uri="{BB962C8B-B14F-4D97-AF65-F5344CB8AC3E}">
        <p14:creationId xmlns:p14="http://schemas.microsoft.com/office/powerpoint/2010/main" val="346346848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6030575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 dirty="0"/>
          </a:p>
        </p:txBody>
      </p:sp>
      <p:sp>
        <p:nvSpPr>
          <p:cNvPr id="3" name="Freeform 3"/>
          <p:cNvSpPr/>
          <p:nvPr/>
        </p:nvSpPr>
        <p:spPr>
          <a:xfrm>
            <a:off x="0" y="0"/>
            <a:ext cx="1750048" cy="9860652"/>
          </a:xfrm>
          <a:custGeom>
            <a:avLst/>
            <a:gdLst/>
            <a:ahLst/>
            <a:cxnLst/>
            <a:rect l="l" t="t" r="r" b="b"/>
            <a:pathLst>
              <a:path w="1750048" h="9860652">
                <a:moveTo>
                  <a:pt x="0" y="0"/>
                </a:moveTo>
                <a:lnTo>
                  <a:pt x="1750048" y="0"/>
                </a:lnTo>
                <a:lnTo>
                  <a:pt x="1750048" y="9860652"/>
                </a:lnTo>
                <a:lnTo>
                  <a:pt x="0" y="986065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0" y="7046873"/>
            <a:ext cx="1312536" cy="3432644"/>
          </a:xfrm>
          <a:custGeom>
            <a:avLst/>
            <a:gdLst/>
            <a:ahLst/>
            <a:cxnLst/>
            <a:rect l="l" t="t" r="r" b="b"/>
            <a:pathLst>
              <a:path w="1312536" h="3432644">
                <a:moveTo>
                  <a:pt x="0" y="0"/>
                </a:moveTo>
                <a:lnTo>
                  <a:pt x="1312536" y="0"/>
                </a:lnTo>
                <a:lnTo>
                  <a:pt x="1312536" y="3432644"/>
                </a:lnTo>
                <a:lnTo>
                  <a:pt x="0" y="343264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grpSp>
        <p:nvGrpSpPr>
          <p:cNvPr id="5" name="Group 5"/>
          <p:cNvGrpSpPr/>
          <p:nvPr/>
        </p:nvGrpSpPr>
        <p:grpSpPr>
          <a:xfrm>
            <a:off x="13059732" y="5455062"/>
            <a:ext cx="5228268" cy="4848336"/>
            <a:chOff x="0" y="0"/>
            <a:chExt cx="6971024" cy="6464448"/>
          </a:xfrm>
        </p:grpSpPr>
        <p:sp>
          <p:nvSpPr>
            <p:cNvPr id="6" name="Freeform 6"/>
            <p:cNvSpPr/>
            <p:nvPr/>
          </p:nvSpPr>
          <p:spPr>
            <a:xfrm>
              <a:off x="1735464" y="1574206"/>
              <a:ext cx="2333397" cy="2303005"/>
            </a:xfrm>
            <a:custGeom>
              <a:avLst/>
              <a:gdLst/>
              <a:ahLst/>
              <a:cxnLst/>
              <a:rect l="l" t="t" r="r" b="b"/>
              <a:pathLst>
                <a:path w="2333397" h="2303005">
                  <a:moveTo>
                    <a:pt x="0" y="0"/>
                  </a:moveTo>
                  <a:lnTo>
                    <a:pt x="2333397" y="0"/>
                  </a:lnTo>
                  <a:lnTo>
                    <a:pt x="2333397" y="2303005"/>
                  </a:lnTo>
                  <a:lnTo>
                    <a:pt x="0" y="230300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/>
              </a:stretch>
            </a:blipFill>
          </p:spPr>
        </p:sp>
        <p:sp>
          <p:nvSpPr>
            <p:cNvPr id="7" name="Freeform 7"/>
            <p:cNvSpPr/>
            <p:nvPr/>
          </p:nvSpPr>
          <p:spPr>
            <a:xfrm>
              <a:off x="0" y="2122415"/>
              <a:ext cx="6971024" cy="4342033"/>
            </a:xfrm>
            <a:custGeom>
              <a:avLst/>
              <a:gdLst/>
              <a:ahLst/>
              <a:cxnLst/>
              <a:rect l="l" t="t" r="r" b="b"/>
              <a:pathLst>
                <a:path w="6971024" h="4342033">
                  <a:moveTo>
                    <a:pt x="0" y="0"/>
                  </a:moveTo>
                  <a:lnTo>
                    <a:pt x="6971024" y="0"/>
                  </a:lnTo>
                  <a:lnTo>
                    <a:pt x="6971024" y="4342033"/>
                  </a:lnTo>
                  <a:lnTo>
                    <a:pt x="0" y="434203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t="-5743"/>
              </a:stretch>
            </a:blipFill>
          </p:spPr>
        </p:sp>
        <p:sp>
          <p:nvSpPr>
            <p:cNvPr id="8" name="Freeform 8"/>
            <p:cNvSpPr/>
            <p:nvPr/>
          </p:nvSpPr>
          <p:spPr>
            <a:xfrm>
              <a:off x="5220976" y="0"/>
              <a:ext cx="1750048" cy="5451418"/>
            </a:xfrm>
            <a:custGeom>
              <a:avLst/>
              <a:gdLst/>
              <a:ahLst/>
              <a:cxnLst/>
              <a:rect l="l" t="t" r="r" b="b"/>
              <a:pathLst>
                <a:path w="1750048" h="5451418">
                  <a:moveTo>
                    <a:pt x="0" y="0"/>
                  </a:moveTo>
                  <a:lnTo>
                    <a:pt x="1750048" y="0"/>
                  </a:lnTo>
                  <a:lnTo>
                    <a:pt x="1750048" y="5451418"/>
                  </a:lnTo>
                  <a:lnTo>
                    <a:pt x="0" y="545141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/>
              </a:stretch>
            </a:blipFill>
          </p:spPr>
        </p:sp>
        <p:sp>
          <p:nvSpPr>
            <p:cNvPr id="9" name="Freeform 9"/>
            <p:cNvSpPr/>
            <p:nvPr/>
          </p:nvSpPr>
          <p:spPr>
            <a:xfrm>
              <a:off x="4862945" y="2122415"/>
              <a:ext cx="1472957" cy="3162988"/>
            </a:xfrm>
            <a:custGeom>
              <a:avLst/>
              <a:gdLst/>
              <a:ahLst/>
              <a:cxnLst/>
              <a:rect l="l" t="t" r="r" b="b"/>
              <a:pathLst>
                <a:path w="1472957" h="3162988">
                  <a:moveTo>
                    <a:pt x="0" y="0"/>
                  </a:moveTo>
                  <a:lnTo>
                    <a:pt x="1472957" y="0"/>
                  </a:lnTo>
                  <a:lnTo>
                    <a:pt x="1472957" y="3162989"/>
                  </a:lnTo>
                  <a:lnTo>
                    <a:pt x="0" y="316298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/>
              </a:stretch>
            </a:blipFill>
          </p:spPr>
        </p:sp>
      </p:grpSp>
      <p:sp>
        <p:nvSpPr>
          <p:cNvPr id="10" name="TextBox 10"/>
          <p:cNvSpPr txBox="1"/>
          <p:nvPr/>
        </p:nvSpPr>
        <p:spPr>
          <a:xfrm>
            <a:off x="0" y="-57150"/>
            <a:ext cx="16535400" cy="96180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7500"/>
              </a:lnSpc>
            </a:pPr>
            <a:r>
              <a:rPr lang="en-US" sz="7500" b="1" spc="150" dirty="0">
                <a:solidFill>
                  <a:srgbClr val="172243"/>
                </a:solidFill>
                <a:latin typeface="Heading Now 31-38 Bold"/>
                <a:ea typeface="Heading Now 31-38 Bold"/>
                <a:cs typeface="Heading Now 31-38 Bold"/>
                <a:sym typeface="Heading Now 31-38 Bold"/>
              </a:rPr>
              <a:t>FEASIBILITY AND VIABILITY</a:t>
            </a:r>
          </a:p>
        </p:txBody>
      </p:sp>
      <p:sp>
        <p:nvSpPr>
          <p:cNvPr id="11" name="Freeform 11"/>
          <p:cNvSpPr/>
          <p:nvPr/>
        </p:nvSpPr>
        <p:spPr>
          <a:xfrm>
            <a:off x="334880" y="1028700"/>
            <a:ext cx="5020450" cy="535667"/>
          </a:xfrm>
          <a:custGeom>
            <a:avLst/>
            <a:gdLst/>
            <a:ahLst/>
            <a:cxnLst/>
            <a:rect l="l" t="t" r="r" b="b"/>
            <a:pathLst>
              <a:path w="5020450" h="535667">
                <a:moveTo>
                  <a:pt x="0" y="0"/>
                </a:moveTo>
                <a:lnTo>
                  <a:pt x="5020450" y="0"/>
                </a:lnTo>
                <a:lnTo>
                  <a:pt x="5020450" y="535667"/>
                </a:lnTo>
                <a:lnTo>
                  <a:pt x="0" y="535667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-11250" r="-11250"/>
            </a:stretch>
          </a:blipFill>
        </p:spPr>
      </p:sp>
      <p:sp>
        <p:nvSpPr>
          <p:cNvPr id="12" name="Freeform 12"/>
          <p:cNvSpPr/>
          <p:nvPr/>
        </p:nvSpPr>
        <p:spPr>
          <a:xfrm>
            <a:off x="13923818" y="2160727"/>
            <a:ext cx="4364182" cy="2153601"/>
          </a:xfrm>
          <a:custGeom>
            <a:avLst/>
            <a:gdLst/>
            <a:ahLst/>
            <a:cxnLst/>
            <a:rect l="l" t="t" r="r" b="b"/>
            <a:pathLst>
              <a:path w="4364182" h="2153601">
                <a:moveTo>
                  <a:pt x="0" y="0"/>
                </a:moveTo>
                <a:lnTo>
                  <a:pt x="4364182" y="0"/>
                </a:lnTo>
                <a:lnTo>
                  <a:pt x="4364182" y="2153601"/>
                </a:lnTo>
                <a:lnTo>
                  <a:pt x="0" y="2153601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alphaModFix amt="68000"/>
            </a:blip>
            <a:stretch>
              <a:fillRect/>
            </a:stretch>
          </a:blipFill>
        </p:spPr>
      </p:sp>
      <p:sp>
        <p:nvSpPr>
          <p:cNvPr id="13" name="Freeform 13"/>
          <p:cNvSpPr/>
          <p:nvPr/>
        </p:nvSpPr>
        <p:spPr>
          <a:xfrm>
            <a:off x="16178937" y="216170"/>
            <a:ext cx="2160727" cy="2160727"/>
          </a:xfrm>
          <a:custGeom>
            <a:avLst/>
            <a:gdLst/>
            <a:ahLst/>
            <a:cxnLst/>
            <a:rect l="l" t="t" r="r" b="b"/>
            <a:pathLst>
              <a:path w="2160727" h="2160727">
                <a:moveTo>
                  <a:pt x="0" y="0"/>
                </a:moveTo>
                <a:lnTo>
                  <a:pt x="2160726" y="0"/>
                </a:lnTo>
                <a:lnTo>
                  <a:pt x="2160726" y="2160727"/>
                </a:lnTo>
                <a:lnTo>
                  <a:pt x="0" y="2160727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/>
            </a:stretch>
          </a:blipFill>
        </p:spPr>
      </p:sp>
      <p:sp>
        <p:nvSpPr>
          <p:cNvPr id="14" name="Rectangle 1">
            <a:extLst>
              <a:ext uri="{FF2B5EF4-FFF2-40B4-BE49-F238E27FC236}">
                <a16:creationId xmlns:a16="http://schemas.microsoft.com/office/drawing/2014/main" id="{26CB31B1-4A83-ED3B-C5A5-9FFD2391D98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5800" y="2360095"/>
            <a:ext cx="17125859" cy="678647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US" sz="3500" b="1" dirty="0">
                <a:latin typeface="Heading Now 31-38" panose="020B0604020202020204" charset="0"/>
              </a:rPr>
              <a:t>Why Is It Feasible?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500" b="1" dirty="0">
                <a:latin typeface="Heading Now 31-38" panose="020B0604020202020204" charset="0"/>
              </a:rPr>
              <a:t>Quick to Build:</a:t>
            </a:r>
            <a:r>
              <a:rPr lang="en-US" sz="3500" dirty="0">
                <a:latin typeface="Heading Now 31-38" panose="020B0604020202020204" charset="0"/>
              </a:rPr>
              <a:t> Python and </a:t>
            </a:r>
            <a:r>
              <a:rPr lang="en-US" sz="3500" dirty="0" err="1">
                <a:latin typeface="Heading Now 31-38" panose="020B0604020202020204" charset="0"/>
              </a:rPr>
              <a:t>Streamlit</a:t>
            </a:r>
            <a:r>
              <a:rPr lang="en-US" sz="3500" dirty="0">
                <a:latin typeface="Heading Now 31-38" panose="020B0604020202020204" charset="0"/>
              </a:rPr>
              <a:t> allow rapid development within the hackathon timeline.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500" b="1" dirty="0">
                <a:latin typeface="Heading Now 31-38" panose="020B0604020202020204" charset="0"/>
              </a:rPr>
              <a:t>Simple to Use:</a:t>
            </a:r>
            <a:r>
              <a:rPr lang="en-US" sz="3500" dirty="0">
                <a:latin typeface="Heading Now 31-38" panose="020B0604020202020204" charset="0"/>
              </a:rPr>
              <a:t> Clear forms, large controls and easy-to-understand quantity summaries.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500" b="1" dirty="0">
                <a:latin typeface="Heading Now 31-38" panose="020B0604020202020204" charset="0"/>
              </a:rPr>
              <a:t>Low Cost:</a:t>
            </a:r>
            <a:r>
              <a:rPr lang="en-US" sz="3500" dirty="0">
                <a:latin typeface="Heading Now 31-38" panose="020B0604020202020204" charset="0"/>
              </a:rPr>
              <a:t> Open-source Python libraries and SQLite support an affordable prototype.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500" b="1" dirty="0">
                <a:latin typeface="Heading Now 31-38" panose="020B0604020202020204" charset="0"/>
              </a:rPr>
              <a:t>Flexible Input:</a:t>
            </a:r>
            <a:r>
              <a:rPr lang="en-US" sz="3500" dirty="0">
                <a:latin typeface="Heading Now 31-38" panose="020B0604020202020204" charset="0"/>
              </a:rPr>
              <a:t> Users can manually enter delivery details even when receipt scanning is unavailable.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500" b="1" dirty="0">
                <a:latin typeface="Heading Now 31-38" panose="020B0604020202020204" charset="0"/>
              </a:rPr>
              <a:t>Expandable:</a:t>
            </a:r>
            <a:r>
              <a:rPr lang="en-US" sz="3500" dirty="0">
                <a:latin typeface="Heading Now 31-38" panose="020B0604020202020204" charset="0"/>
              </a:rPr>
              <a:t> OCR, Marathi and Hindi explanations, and cloud storage can be added as the project develops.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sz="3500" dirty="0">
              <a:latin typeface="Heading Now 31-38" panose="020B0604020202020204" charset="0"/>
            </a:endParaRPr>
          </a:p>
          <a:p>
            <a:r>
              <a:rPr lang="en-US" sz="3500" b="1" dirty="0">
                <a:latin typeface="Heading Now 31-38" panose="020B0604020202020204" charset="0"/>
              </a:rPr>
              <a:t>Practical Implementation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500" dirty="0">
                <a:latin typeface="Heading Now 31-38" panose="020B0604020202020204" charset="0"/>
              </a:rPr>
              <a:t>Our hackathon MVP focuses on entitlement setup, partial-delivery tracking, exact calculations, evidence references and PDF report generation.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500" dirty="0">
                <a:latin typeface="Heading Now 31-38" panose="020B0604020202020204" charset="0"/>
              </a:rPr>
              <a:t>Receipt OCR and multilingual assistance can be demonstrated as additional capabilities where integration is available and tested.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500" b="1" dirty="0">
                <a:latin typeface="Heading Now 31-38" panose="020B0604020202020204" charset="0"/>
              </a:rPr>
              <a:t>Future Scope:</a:t>
            </a:r>
            <a:r>
              <a:rPr lang="en-US" sz="3500" dirty="0">
                <a:latin typeface="Heading Now 31-38" panose="020B0604020202020204" charset="0"/>
              </a:rPr>
              <a:t> Offline-first receipt capture, secure cloud synchronization and authorized, privacy-protected analysis of aggregated discrepancies across locations.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-5715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0" y="0"/>
            <a:ext cx="18288000" cy="10479517"/>
            <a:chOff x="0" y="0"/>
            <a:chExt cx="24384000" cy="13972689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333397" cy="13147537"/>
            </a:xfrm>
            <a:custGeom>
              <a:avLst/>
              <a:gdLst/>
              <a:ahLst/>
              <a:cxnLst/>
              <a:rect l="l" t="t" r="r" b="b"/>
              <a:pathLst>
                <a:path w="2333397" h="13147537">
                  <a:moveTo>
                    <a:pt x="0" y="0"/>
                  </a:moveTo>
                  <a:lnTo>
                    <a:pt x="2333397" y="0"/>
                  </a:lnTo>
                  <a:lnTo>
                    <a:pt x="2333397" y="13147537"/>
                  </a:lnTo>
                  <a:lnTo>
                    <a:pt x="0" y="131475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</p:sp>
        <p:sp>
          <p:nvSpPr>
            <p:cNvPr id="5" name="Freeform 5"/>
            <p:cNvSpPr/>
            <p:nvPr/>
          </p:nvSpPr>
          <p:spPr>
            <a:xfrm>
              <a:off x="19148440" y="8847622"/>
              <a:ext cx="2333397" cy="2303005"/>
            </a:xfrm>
            <a:custGeom>
              <a:avLst/>
              <a:gdLst/>
              <a:ahLst/>
              <a:cxnLst/>
              <a:rect l="l" t="t" r="r" b="b"/>
              <a:pathLst>
                <a:path w="2333397" h="2303005">
                  <a:moveTo>
                    <a:pt x="0" y="0"/>
                  </a:moveTo>
                  <a:lnTo>
                    <a:pt x="2333397" y="0"/>
                  </a:lnTo>
                  <a:lnTo>
                    <a:pt x="2333397" y="2303005"/>
                  </a:lnTo>
                  <a:lnTo>
                    <a:pt x="0" y="230300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/>
              </a:stretch>
            </a:blipFill>
          </p:spPr>
        </p:sp>
        <p:sp>
          <p:nvSpPr>
            <p:cNvPr id="6" name="Freeform 6"/>
            <p:cNvSpPr/>
            <p:nvPr/>
          </p:nvSpPr>
          <p:spPr>
            <a:xfrm>
              <a:off x="17412976" y="9395831"/>
              <a:ext cx="6971024" cy="4342033"/>
            </a:xfrm>
            <a:custGeom>
              <a:avLst/>
              <a:gdLst/>
              <a:ahLst/>
              <a:cxnLst/>
              <a:rect l="l" t="t" r="r" b="b"/>
              <a:pathLst>
                <a:path w="6971024" h="4342033">
                  <a:moveTo>
                    <a:pt x="0" y="0"/>
                  </a:moveTo>
                  <a:lnTo>
                    <a:pt x="6971024" y="0"/>
                  </a:lnTo>
                  <a:lnTo>
                    <a:pt x="6971024" y="4342033"/>
                  </a:lnTo>
                  <a:lnTo>
                    <a:pt x="0" y="434203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t="-5743"/>
              </a:stretch>
            </a:blipFill>
          </p:spPr>
        </p:sp>
        <p:sp>
          <p:nvSpPr>
            <p:cNvPr id="7" name="Freeform 7"/>
            <p:cNvSpPr/>
            <p:nvPr/>
          </p:nvSpPr>
          <p:spPr>
            <a:xfrm>
              <a:off x="0" y="9395831"/>
              <a:ext cx="1750048" cy="4576859"/>
            </a:xfrm>
            <a:custGeom>
              <a:avLst/>
              <a:gdLst/>
              <a:ahLst/>
              <a:cxnLst/>
              <a:rect l="l" t="t" r="r" b="b"/>
              <a:pathLst>
                <a:path w="1750048" h="4576859">
                  <a:moveTo>
                    <a:pt x="0" y="0"/>
                  </a:moveTo>
                  <a:lnTo>
                    <a:pt x="1750048" y="0"/>
                  </a:lnTo>
                  <a:lnTo>
                    <a:pt x="1750048" y="4576858"/>
                  </a:lnTo>
                  <a:lnTo>
                    <a:pt x="0" y="457685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/>
              </a:stretch>
            </a:blipFill>
          </p:spPr>
        </p:sp>
        <p:sp>
          <p:nvSpPr>
            <p:cNvPr id="8" name="Freeform 8"/>
            <p:cNvSpPr/>
            <p:nvPr/>
          </p:nvSpPr>
          <p:spPr>
            <a:xfrm>
              <a:off x="22633952" y="7273416"/>
              <a:ext cx="1750048" cy="5451418"/>
            </a:xfrm>
            <a:custGeom>
              <a:avLst/>
              <a:gdLst/>
              <a:ahLst/>
              <a:cxnLst/>
              <a:rect l="l" t="t" r="r" b="b"/>
              <a:pathLst>
                <a:path w="1750048" h="5451418">
                  <a:moveTo>
                    <a:pt x="0" y="0"/>
                  </a:moveTo>
                  <a:lnTo>
                    <a:pt x="1750048" y="0"/>
                  </a:lnTo>
                  <a:lnTo>
                    <a:pt x="1750048" y="5451417"/>
                  </a:lnTo>
                  <a:lnTo>
                    <a:pt x="0" y="545141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/>
              </a:stretch>
            </a:blipFill>
          </p:spPr>
        </p:sp>
        <p:sp>
          <p:nvSpPr>
            <p:cNvPr id="9" name="Freeform 9"/>
            <p:cNvSpPr/>
            <p:nvPr/>
          </p:nvSpPr>
          <p:spPr>
            <a:xfrm>
              <a:off x="22275922" y="9395831"/>
              <a:ext cx="1472957" cy="3162988"/>
            </a:xfrm>
            <a:custGeom>
              <a:avLst/>
              <a:gdLst/>
              <a:ahLst/>
              <a:cxnLst/>
              <a:rect l="l" t="t" r="r" b="b"/>
              <a:pathLst>
                <a:path w="1472957" h="3162988">
                  <a:moveTo>
                    <a:pt x="0" y="0"/>
                  </a:moveTo>
                  <a:lnTo>
                    <a:pt x="1472956" y="0"/>
                  </a:lnTo>
                  <a:lnTo>
                    <a:pt x="1472956" y="3162988"/>
                  </a:lnTo>
                  <a:lnTo>
                    <a:pt x="0" y="316298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/>
              </a:stretch>
            </a:blipFill>
          </p:spPr>
        </p:sp>
      </p:grpSp>
      <p:sp>
        <p:nvSpPr>
          <p:cNvPr id="10" name="TextBox 10"/>
          <p:cNvSpPr txBox="1"/>
          <p:nvPr/>
        </p:nvSpPr>
        <p:spPr>
          <a:xfrm>
            <a:off x="0" y="-57150"/>
            <a:ext cx="16975464" cy="96180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7500"/>
              </a:lnSpc>
            </a:pPr>
            <a:r>
              <a:rPr lang="en-US" sz="7500" b="1" spc="150" dirty="0">
                <a:solidFill>
                  <a:srgbClr val="172243"/>
                </a:solidFill>
                <a:latin typeface="Heading Now 31-38 Bold"/>
                <a:ea typeface="Heading Now 31-38 Bold"/>
                <a:cs typeface="Heading Now 31-38 Bold"/>
                <a:sym typeface="Heading Now 31-38 Bold"/>
              </a:rPr>
              <a:t>IMPACT AND BENEFITS</a:t>
            </a:r>
          </a:p>
        </p:txBody>
      </p:sp>
      <p:sp>
        <p:nvSpPr>
          <p:cNvPr id="11" name="Freeform 11"/>
          <p:cNvSpPr/>
          <p:nvPr/>
        </p:nvSpPr>
        <p:spPr>
          <a:xfrm>
            <a:off x="355509" y="1028700"/>
            <a:ext cx="5020450" cy="535667"/>
          </a:xfrm>
          <a:custGeom>
            <a:avLst/>
            <a:gdLst/>
            <a:ahLst/>
            <a:cxnLst/>
            <a:rect l="l" t="t" r="r" b="b"/>
            <a:pathLst>
              <a:path w="5020450" h="535667">
                <a:moveTo>
                  <a:pt x="0" y="0"/>
                </a:moveTo>
                <a:lnTo>
                  <a:pt x="5020449" y="0"/>
                </a:lnTo>
                <a:lnTo>
                  <a:pt x="5020449" y="535667"/>
                </a:lnTo>
                <a:lnTo>
                  <a:pt x="0" y="535667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-11250" r="-11250"/>
            </a:stretch>
          </a:blipFill>
        </p:spPr>
      </p:sp>
      <p:sp>
        <p:nvSpPr>
          <p:cNvPr id="12" name="Freeform 12"/>
          <p:cNvSpPr/>
          <p:nvPr/>
        </p:nvSpPr>
        <p:spPr>
          <a:xfrm>
            <a:off x="13923818" y="2160727"/>
            <a:ext cx="4364182" cy="2153601"/>
          </a:xfrm>
          <a:custGeom>
            <a:avLst/>
            <a:gdLst/>
            <a:ahLst/>
            <a:cxnLst/>
            <a:rect l="l" t="t" r="r" b="b"/>
            <a:pathLst>
              <a:path w="4364182" h="2153601">
                <a:moveTo>
                  <a:pt x="0" y="0"/>
                </a:moveTo>
                <a:lnTo>
                  <a:pt x="4364182" y="0"/>
                </a:lnTo>
                <a:lnTo>
                  <a:pt x="4364182" y="2153601"/>
                </a:lnTo>
                <a:lnTo>
                  <a:pt x="0" y="2153601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alphaModFix amt="68000"/>
            </a:blip>
            <a:stretch>
              <a:fillRect/>
            </a:stretch>
          </a:blipFill>
        </p:spPr>
      </p:sp>
      <p:sp>
        <p:nvSpPr>
          <p:cNvPr id="13" name="Freeform 13"/>
          <p:cNvSpPr/>
          <p:nvPr/>
        </p:nvSpPr>
        <p:spPr>
          <a:xfrm>
            <a:off x="16178937" y="216170"/>
            <a:ext cx="2160727" cy="2160727"/>
          </a:xfrm>
          <a:custGeom>
            <a:avLst/>
            <a:gdLst/>
            <a:ahLst/>
            <a:cxnLst/>
            <a:rect l="l" t="t" r="r" b="b"/>
            <a:pathLst>
              <a:path w="2160727" h="2160727">
                <a:moveTo>
                  <a:pt x="0" y="0"/>
                </a:moveTo>
                <a:lnTo>
                  <a:pt x="2160726" y="0"/>
                </a:lnTo>
                <a:lnTo>
                  <a:pt x="2160726" y="2160727"/>
                </a:lnTo>
                <a:lnTo>
                  <a:pt x="0" y="2160727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/>
            </a:stretch>
          </a:blipFill>
        </p:spPr>
      </p:sp>
      <p:sp>
        <p:nvSpPr>
          <p:cNvPr id="14" name="Rectangle 1">
            <a:extLst>
              <a:ext uri="{FF2B5EF4-FFF2-40B4-BE49-F238E27FC236}">
                <a16:creationId xmlns:a16="http://schemas.microsoft.com/office/drawing/2014/main" id="{6CF9ABFC-E42A-BD35-2F47-F3F8464E5CB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5509" y="1319846"/>
            <a:ext cx="17576982" cy="86639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500" b="1" dirty="0">
                <a:latin typeface="Heading Now 31-38" panose="020B0604020202020204" charset="0"/>
              </a:rPr>
              <a:t>Empowering Families</a:t>
            </a:r>
          </a:p>
          <a:p>
            <a:r>
              <a:rPr lang="en-US" sz="3500" dirty="0">
                <a:latin typeface="Heading Now 31-38" panose="020B0604020202020204" charset="0"/>
              </a:rPr>
              <a:t>Provides a clear record of expected entitlement and recorded deliveries.</a:t>
            </a:r>
          </a:p>
          <a:p>
            <a:endParaRPr lang="en-US" sz="3500" dirty="0">
              <a:latin typeface="Heading Now 31-38" panose="020B0604020202020204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500" b="1" dirty="0">
                <a:latin typeface="Heading Now 31-38" panose="020B0604020202020204" charset="0"/>
              </a:rPr>
              <a:t>Evidence-Based Grievances</a:t>
            </a:r>
          </a:p>
          <a:p>
            <a:r>
              <a:rPr lang="en-US" sz="3500" dirty="0">
                <a:latin typeface="Heading Now 31-38" panose="020B0604020202020204" charset="0"/>
              </a:rPr>
              <a:t>Helps users organize calculations, dates, quantities and supporting receipts into a structured report.</a:t>
            </a:r>
          </a:p>
          <a:p>
            <a:endParaRPr lang="en-US" sz="3500" dirty="0">
              <a:latin typeface="Heading Now 31-38" panose="020B0604020202020204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500" b="1" dirty="0">
                <a:latin typeface="Heading Now 31-38" panose="020B0604020202020204" charset="0"/>
              </a:rPr>
              <a:t>Greater Transparency</a:t>
            </a:r>
          </a:p>
          <a:p>
            <a:r>
              <a:rPr lang="en-US" sz="3500" dirty="0">
                <a:latin typeface="Heading Now 31-38" panose="020B0604020202020204" charset="0"/>
              </a:rPr>
              <a:t>Makes it easier to review partial deliveries and identify records that require verification.</a:t>
            </a:r>
          </a:p>
          <a:p>
            <a:endParaRPr lang="en-US" sz="3500" dirty="0">
              <a:latin typeface="Heading Now 31-38" panose="020B0604020202020204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500" b="1" dirty="0">
                <a:latin typeface="Heading Now 31-38" panose="020B0604020202020204" charset="0"/>
              </a:rPr>
              <a:t>Responsible Dispute Resolution</a:t>
            </a:r>
          </a:p>
          <a:p>
            <a:r>
              <a:rPr lang="en-US" sz="3500" dirty="0">
                <a:latin typeface="Heading Now 31-38" panose="020B0604020202020204" charset="0"/>
              </a:rPr>
              <a:t>Uses neutral language and never treats a quantity difference as proof of fraud.</a:t>
            </a:r>
          </a:p>
          <a:p>
            <a:endParaRPr lang="en-US" sz="3500" dirty="0">
              <a:latin typeface="Heading Now 31-38" panose="020B0604020202020204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500" b="1" dirty="0">
                <a:latin typeface="Heading Now 31-38" panose="020B0604020202020204" charset="0"/>
              </a:rPr>
              <a:t>Potential Community Impact</a:t>
            </a:r>
          </a:p>
          <a:p>
            <a:r>
              <a:rPr lang="en-US" sz="3500" dirty="0">
                <a:latin typeface="Heading Now 31-38" panose="020B0604020202020204" charset="0"/>
              </a:rPr>
              <a:t>With appropriate consent, privacy safeguards and sufficient verified data, aggregated reports could help authorized organizations identify recurring supply or distribution issues.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500" b="1" dirty="0">
                <a:latin typeface="Heading Now 31-38" panose="020B0604020202020204" charset="0"/>
              </a:rPr>
              <a:t>Our Goal:</a:t>
            </a:r>
            <a:r>
              <a:rPr lang="en-US" sz="3500" dirty="0">
                <a:latin typeface="Heading Now 31-38" panose="020B0604020202020204" charset="0"/>
              </a:rPr>
              <a:t> Make ration tracking understandable, evidence-based and accessible to the people who need it most.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0" y="0"/>
            <a:ext cx="18288000" cy="10479517"/>
            <a:chOff x="0" y="0"/>
            <a:chExt cx="24384000" cy="13972689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333397" cy="13147537"/>
            </a:xfrm>
            <a:custGeom>
              <a:avLst/>
              <a:gdLst/>
              <a:ahLst/>
              <a:cxnLst/>
              <a:rect l="l" t="t" r="r" b="b"/>
              <a:pathLst>
                <a:path w="2333397" h="13147537">
                  <a:moveTo>
                    <a:pt x="0" y="0"/>
                  </a:moveTo>
                  <a:lnTo>
                    <a:pt x="2333397" y="0"/>
                  </a:lnTo>
                  <a:lnTo>
                    <a:pt x="2333397" y="13147537"/>
                  </a:lnTo>
                  <a:lnTo>
                    <a:pt x="0" y="131475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</p:sp>
        <p:sp>
          <p:nvSpPr>
            <p:cNvPr id="5" name="Freeform 5"/>
            <p:cNvSpPr/>
            <p:nvPr/>
          </p:nvSpPr>
          <p:spPr>
            <a:xfrm>
              <a:off x="19148440" y="8847622"/>
              <a:ext cx="2333397" cy="2303005"/>
            </a:xfrm>
            <a:custGeom>
              <a:avLst/>
              <a:gdLst/>
              <a:ahLst/>
              <a:cxnLst/>
              <a:rect l="l" t="t" r="r" b="b"/>
              <a:pathLst>
                <a:path w="2333397" h="2303005">
                  <a:moveTo>
                    <a:pt x="0" y="0"/>
                  </a:moveTo>
                  <a:lnTo>
                    <a:pt x="2333397" y="0"/>
                  </a:lnTo>
                  <a:lnTo>
                    <a:pt x="2333397" y="2303005"/>
                  </a:lnTo>
                  <a:lnTo>
                    <a:pt x="0" y="230300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/>
              </a:stretch>
            </a:blipFill>
          </p:spPr>
        </p:sp>
        <p:sp>
          <p:nvSpPr>
            <p:cNvPr id="6" name="Freeform 6"/>
            <p:cNvSpPr/>
            <p:nvPr/>
          </p:nvSpPr>
          <p:spPr>
            <a:xfrm>
              <a:off x="17412976" y="9395831"/>
              <a:ext cx="6971024" cy="4342033"/>
            </a:xfrm>
            <a:custGeom>
              <a:avLst/>
              <a:gdLst/>
              <a:ahLst/>
              <a:cxnLst/>
              <a:rect l="l" t="t" r="r" b="b"/>
              <a:pathLst>
                <a:path w="6971024" h="4342033">
                  <a:moveTo>
                    <a:pt x="0" y="0"/>
                  </a:moveTo>
                  <a:lnTo>
                    <a:pt x="6971024" y="0"/>
                  </a:lnTo>
                  <a:lnTo>
                    <a:pt x="6971024" y="4342033"/>
                  </a:lnTo>
                  <a:lnTo>
                    <a:pt x="0" y="434203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t="-5743"/>
              </a:stretch>
            </a:blipFill>
          </p:spPr>
        </p:sp>
        <p:sp>
          <p:nvSpPr>
            <p:cNvPr id="7" name="Freeform 7"/>
            <p:cNvSpPr/>
            <p:nvPr/>
          </p:nvSpPr>
          <p:spPr>
            <a:xfrm>
              <a:off x="0" y="9395831"/>
              <a:ext cx="1750048" cy="4576859"/>
            </a:xfrm>
            <a:custGeom>
              <a:avLst/>
              <a:gdLst/>
              <a:ahLst/>
              <a:cxnLst/>
              <a:rect l="l" t="t" r="r" b="b"/>
              <a:pathLst>
                <a:path w="1750048" h="4576859">
                  <a:moveTo>
                    <a:pt x="0" y="0"/>
                  </a:moveTo>
                  <a:lnTo>
                    <a:pt x="1750048" y="0"/>
                  </a:lnTo>
                  <a:lnTo>
                    <a:pt x="1750048" y="4576858"/>
                  </a:lnTo>
                  <a:lnTo>
                    <a:pt x="0" y="457685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/>
              </a:stretch>
            </a:blipFill>
          </p:spPr>
        </p:sp>
        <p:sp>
          <p:nvSpPr>
            <p:cNvPr id="8" name="Freeform 8"/>
            <p:cNvSpPr/>
            <p:nvPr/>
          </p:nvSpPr>
          <p:spPr>
            <a:xfrm>
              <a:off x="22633952" y="7273416"/>
              <a:ext cx="1750048" cy="5451418"/>
            </a:xfrm>
            <a:custGeom>
              <a:avLst/>
              <a:gdLst/>
              <a:ahLst/>
              <a:cxnLst/>
              <a:rect l="l" t="t" r="r" b="b"/>
              <a:pathLst>
                <a:path w="1750048" h="5451418">
                  <a:moveTo>
                    <a:pt x="0" y="0"/>
                  </a:moveTo>
                  <a:lnTo>
                    <a:pt x="1750048" y="0"/>
                  </a:lnTo>
                  <a:lnTo>
                    <a:pt x="1750048" y="5451417"/>
                  </a:lnTo>
                  <a:lnTo>
                    <a:pt x="0" y="545141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/>
              </a:stretch>
            </a:blipFill>
          </p:spPr>
        </p:sp>
        <p:sp>
          <p:nvSpPr>
            <p:cNvPr id="9" name="Freeform 9"/>
            <p:cNvSpPr/>
            <p:nvPr/>
          </p:nvSpPr>
          <p:spPr>
            <a:xfrm>
              <a:off x="22275922" y="9395831"/>
              <a:ext cx="1472957" cy="3162988"/>
            </a:xfrm>
            <a:custGeom>
              <a:avLst/>
              <a:gdLst/>
              <a:ahLst/>
              <a:cxnLst/>
              <a:rect l="l" t="t" r="r" b="b"/>
              <a:pathLst>
                <a:path w="1472957" h="3162988">
                  <a:moveTo>
                    <a:pt x="0" y="0"/>
                  </a:moveTo>
                  <a:lnTo>
                    <a:pt x="1472956" y="0"/>
                  </a:lnTo>
                  <a:lnTo>
                    <a:pt x="1472956" y="3162988"/>
                  </a:lnTo>
                  <a:lnTo>
                    <a:pt x="0" y="316298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/>
              </a:stretch>
            </a:blipFill>
          </p:spPr>
        </p:sp>
      </p:grpSp>
      <p:sp>
        <p:nvSpPr>
          <p:cNvPr id="10" name="TextBox 10"/>
          <p:cNvSpPr txBox="1"/>
          <p:nvPr/>
        </p:nvSpPr>
        <p:spPr>
          <a:xfrm>
            <a:off x="-51664" y="-57151"/>
            <a:ext cx="16663264" cy="96180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7500"/>
              </a:lnSpc>
            </a:pPr>
            <a:r>
              <a:rPr lang="en-US" sz="7500" b="1" spc="150" dirty="0">
                <a:solidFill>
                  <a:srgbClr val="172243"/>
                </a:solidFill>
                <a:latin typeface="Heading Now 31-38 Bold"/>
                <a:ea typeface="Heading Now 31-38 Bold"/>
                <a:cs typeface="Heading Now 31-38 Bold"/>
                <a:sym typeface="Heading Now 31-38 Bold"/>
              </a:rPr>
              <a:t>DIFFERENTIATOR</a:t>
            </a:r>
          </a:p>
        </p:txBody>
      </p:sp>
      <p:sp>
        <p:nvSpPr>
          <p:cNvPr id="11" name="Freeform 11"/>
          <p:cNvSpPr/>
          <p:nvPr/>
        </p:nvSpPr>
        <p:spPr>
          <a:xfrm>
            <a:off x="355509" y="1028700"/>
            <a:ext cx="5020450" cy="535667"/>
          </a:xfrm>
          <a:custGeom>
            <a:avLst/>
            <a:gdLst/>
            <a:ahLst/>
            <a:cxnLst/>
            <a:rect l="l" t="t" r="r" b="b"/>
            <a:pathLst>
              <a:path w="5020450" h="535667">
                <a:moveTo>
                  <a:pt x="0" y="0"/>
                </a:moveTo>
                <a:lnTo>
                  <a:pt x="5020449" y="0"/>
                </a:lnTo>
                <a:lnTo>
                  <a:pt x="5020449" y="535667"/>
                </a:lnTo>
                <a:lnTo>
                  <a:pt x="0" y="535667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-11250" r="-11250"/>
            </a:stretch>
          </a:blipFill>
        </p:spPr>
      </p:sp>
      <p:sp>
        <p:nvSpPr>
          <p:cNvPr id="12" name="Freeform 12"/>
          <p:cNvSpPr/>
          <p:nvPr/>
        </p:nvSpPr>
        <p:spPr>
          <a:xfrm>
            <a:off x="13923818" y="2160727"/>
            <a:ext cx="4364182" cy="2153601"/>
          </a:xfrm>
          <a:custGeom>
            <a:avLst/>
            <a:gdLst/>
            <a:ahLst/>
            <a:cxnLst/>
            <a:rect l="l" t="t" r="r" b="b"/>
            <a:pathLst>
              <a:path w="4364182" h="2153601">
                <a:moveTo>
                  <a:pt x="0" y="0"/>
                </a:moveTo>
                <a:lnTo>
                  <a:pt x="4364182" y="0"/>
                </a:lnTo>
                <a:lnTo>
                  <a:pt x="4364182" y="2153601"/>
                </a:lnTo>
                <a:lnTo>
                  <a:pt x="0" y="2153601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alphaModFix amt="68000"/>
            </a:blip>
            <a:stretch>
              <a:fillRect/>
            </a:stretch>
          </a:blipFill>
        </p:spPr>
      </p:sp>
      <p:sp>
        <p:nvSpPr>
          <p:cNvPr id="13" name="Freeform 13"/>
          <p:cNvSpPr/>
          <p:nvPr/>
        </p:nvSpPr>
        <p:spPr>
          <a:xfrm>
            <a:off x="16178937" y="216170"/>
            <a:ext cx="2160727" cy="2160727"/>
          </a:xfrm>
          <a:custGeom>
            <a:avLst/>
            <a:gdLst/>
            <a:ahLst/>
            <a:cxnLst/>
            <a:rect l="l" t="t" r="r" b="b"/>
            <a:pathLst>
              <a:path w="2160727" h="2160727">
                <a:moveTo>
                  <a:pt x="0" y="0"/>
                </a:moveTo>
                <a:lnTo>
                  <a:pt x="2160726" y="0"/>
                </a:lnTo>
                <a:lnTo>
                  <a:pt x="2160726" y="2160727"/>
                </a:lnTo>
                <a:lnTo>
                  <a:pt x="0" y="2160727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/>
            </a:stretch>
          </a:blipFill>
        </p:spPr>
      </p:sp>
      <p:sp>
        <p:nvSpPr>
          <p:cNvPr id="14" name="Rectangle 1">
            <a:extLst>
              <a:ext uri="{FF2B5EF4-FFF2-40B4-BE49-F238E27FC236}">
                <a16:creationId xmlns:a16="http://schemas.microsoft.com/office/drawing/2014/main" id="{5AAFCDF1-2E62-4C37-43E0-8B10115B492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" y="1452278"/>
            <a:ext cx="17907000" cy="835613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US" sz="3000" b="1" dirty="0">
                <a:latin typeface="Heading Now 31-38" panose="020B0604020202020204" charset="0"/>
              </a:rPr>
              <a:t>What Makes </a:t>
            </a:r>
            <a:r>
              <a:rPr lang="en-US" sz="3000" b="1" dirty="0" err="1">
                <a:latin typeface="Heading Now 31-38" panose="020B0604020202020204" charset="0"/>
              </a:rPr>
              <a:t>RationSaathi</a:t>
            </a:r>
            <a:r>
              <a:rPr lang="en-US" sz="3000" b="1" dirty="0">
                <a:latin typeface="Heading Now 31-38" panose="020B0604020202020204" charset="0"/>
              </a:rPr>
              <a:t> Different?</a:t>
            </a:r>
          </a:p>
          <a:p>
            <a:r>
              <a:rPr lang="en-US" sz="3000" b="1" dirty="0">
                <a:latin typeface="Heading Now 31-38" panose="020B0604020202020204" charset="0"/>
              </a:rPr>
              <a:t>1. Human-in-the-Loop AI</a:t>
            </a:r>
            <a:endParaRPr lang="en-US" sz="3000" dirty="0">
              <a:latin typeface="Heading Now 31-38" panose="020B0604020202020204" charset="0"/>
            </a:endParaRPr>
          </a:p>
          <a:p>
            <a:r>
              <a:rPr lang="en-US" sz="3000" dirty="0">
                <a:latin typeface="Heading Now 31-38" panose="020B0604020202020204" charset="0"/>
              </a:rPr>
              <a:t>AI-extracted receipt details remain suggestions until the user reviews and confirms them.</a:t>
            </a:r>
          </a:p>
          <a:p>
            <a:endParaRPr lang="en-US" sz="3000" dirty="0">
              <a:latin typeface="Heading Now 31-38" panose="020B0604020202020204" charset="0"/>
            </a:endParaRPr>
          </a:p>
          <a:p>
            <a:r>
              <a:rPr lang="en-US" sz="3000" b="1" dirty="0">
                <a:latin typeface="Heading Now 31-38" panose="020B0604020202020204" charset="0"/>
              </a:rPr>
              <a:t>2. Deterministic Calculations</a:t>
            </a:r>
            <a:endParaRPr lang="en-US" sz="3000" dirty="0">
              <a:latin typeface="Heading Now 31-38" panose="020B0604020202020204" charset="0"/>
            </a:endParaRPr>
          </a:p>
          <a:p>
            <a:r>
              <a:rPr lang="en-US" sz="3000" dirty="0">
                <a:latin typeface="Heading Now 31-38" panose="020B0604020202020204" charset="0"/>
              </a:rPr>
              <a:t>A dedicated Python calculation engine computes entitlement, delivery totals and differences independently of AI-generated text.</a:t>
            </a:r>
          </a:p>
          <a:p>
            <a:endParaRPr lang="en-US" sz="3000" dirty="0">
              <a:latin typeface="Heading Now 31-38" panose="020B0604020202020204" charset="0"/>
            </a:endParaRPr>
          </a:p>
          <a:p>
            <a:r>
              <a:rPr lang="en-US" sz="3000" b="1" dirty="0">
                <a:latin typeface="Heading Now 31-38" panose="020B0604020202020204" charset="0"/>
              </a:rPr>
              <a:t>3. Evidence-Linked Ledger</a:t>
            </a:r>
            <a:endParaRPr lang="en-US" sz="3000" dirty="0">
              <a:latin typeface="Heading Now 31-38" panose="020B0604020202020204" charset="0"/>
            </a:endParaRPr>
          </a:p>
          <a:p>
            <a:r>
              <a:rPr lang="en-US" sz="3000" dirty="0">
                <a:latin typeface="Heading Now 31-38" panose="020B0604020202020204" charset="0"/>
              </a:rPr>
              <a:t>Each delivery retains its date, quantity, verification status and receipt reference, making the calculation easier to audit.</a:t>
            </a:r>
          </a:p>
          <a:p>
            <a:endParaRPr lang="en-US" sz="3000" dirty="0">
              <a:latin typeface="Heading Now 31-38" panose="020B0604020202020204" charset="0"/>
            </a:endParaRPr>
          </a:p>
          <a:p>
            <a:r>
              <a:rPr lang="en-US" sz="3000" b="1" dirty="0">
                <a:latin typeface="Heading Now 31-38" panose="020B0604020202020204" charset="0"/>
              </a:rPr>
              <a:t>4. Neutral-by-Design Reporting</a:t>
            </a:r>
            <a:endParaRPr lang="en-US" sz="3000" dirty="0">
              <a:latin typeface="Heading Now 31-38" panose="020B0604020202020204" charset="0"/>
            </a:endParaRPr>
          </a:p>
          <a:p>
            <a:r>
              <a:rPr lang="en-US" sz="3000" dirty="0">
                <a:latin typeface="Heading Now 31-38" panose="020B0604020202020204" charset="0"/>
              </a:rPr>
              <a:t>Reports distinguish documented differences from unverified records and never automatically accuse a beneficiary, distributor or supplier.</a:t>
            </a:r>
          </a:p>
          <a:p>
            <a:endParaRPr lang="en-US" sz="3000" dirty="0">
              <a:latin typeface="Heading Now 31-38" panose="020B0604020202020204" charset="0"/>
            </a:endParaRPr>
          </a:p>
          <a:p>
            <a:r>
              <a:rPr lang="en-US" sz="3000" b="1" dirty="0">
                <a:latin typeface="Heading Now 31-38" panose="020B0604020202020204" charset="0"/>
              </a:rPr>
              <a:t>5. Transparent, Line-by-Line Results</a:t>
            </a:r>
            <a:endParaRPr lang="en-US" sz="3000" dirty="0">
              <a:latin typeface="Heading Now 31-38" panose="020B0604020202020204" charset="0"/>
            </a:endParaRPr>
          </a:p>
          <a:p>
            <a:r>
              <a:rPr lang="en-US" sz="3000" dirty="0">
                <a:latin typeface="Heading Now 31-38" panose="020B0604020202020204" charset="0"/>
              </a:rPr>
              <a:t>Users can see the entitlement rule, individual deliveries, total received and exact arithmetic behind the result.</a:t>
            </a:r>
          </a:p>
          <a:p>
            <a:endParaRPr lang="en-US" sz="3000" dirty="0">
              <a:latin typeface="Heading Now 31-38" panose="020B0604020202020204" charset="0"/>
            </a:endParaRPr>
          </a:p>
          <a:p>
            <a:r>
              <a:rPr lang="en-US" sz="3000" b="1" dirty="0">
                <a:latin typeface="Heading Now 31-38" panose="020B0604020202020204" charset="0"/>
              </a:rPr>
              <a:t>Our Innovation</a:t>
            </a:r>
          </a:p>
          <a:p>
            <a:r>
              <a:rPr lang="en-US" sz="3000" b="1" dirty="0" err="1">
                <a:latin typeface="Heading Now 31-38" panose="020B0604020202020204" charset="0"/>
              </a:rPr>
              <a:t>RationSaathi</a:t>
            </a:r>
            <a:r>
              <a:rPr lang="en-US" sz="3000" b="1" dirty="0">
                <a:latin typeface="Heading Now 31-38" panose="020B0604020202020204" charset="0"/>
              </a:rPr>
              <a:t> does not just calculate what may be missing. It explains how the difference was calculated and shows which records support it.</a:t>
            </a:r>
            <a:endParaRPr lang="en-US" sz="3000" dirty="0">
              <a:latin typeface="Heading Now 31-38" panose="020B0604020202020204" charset="0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0" y="4711687"/>
            <a:ext cx="6540804" cy="5148966"/>
          </a:xfrm>
          <a:custGeom>
            <a:avLst/>
            <a:gdLst/>
            <a:ahLst/>
            <a:cxnLst/>
            <a:rect l="l" t="t" r="r" b="b"/>
            <a:pathLst>
              <a:path w="6540804" h="5148966">
                <a:moveTo>
                  <a:pt x="0" y="0"/>
                </a:moveTo>
                <a:lnTo>
                  <a:pt x="6540804" y="0"/>
                </a:lnTo>
                <a:lnTo>
                  <a:pt x="6540804" y="5148965"/>
                </a:lnTo>
                <a:lnTo>
                  <a:pt x="0" y="514896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7175196" y="6854356"/>
            <a:ext cx="4364182" cy="3006296"/>
          </a:xfrm>
          <a:custGeom>
            <a:avLst/>
            <a:gdLst/>
            <a:ahLst/>
            <a:cxnLst/>
            <a:rect l="l" t="t" r="r" b="b"/>
            <a:pathLst>
              <a:path w="4364182" h="3006296">
                <a:moveTo>
                  <a:pt x="0" y="0"/>
                </a:moveTo>
                <a:lnTo>
                  <a:pt x="4364182" y="0"/>
                </a:lnTo>
                <a:lnTo>
                  <a:pt x="4364182" y="3006296"/>
                </a:lnTo>
                <a:lnTo>
                  <a:pt x="0" y="300629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9789330" y="7499343"/>
            <a:ext cx="8498670" cy="2361309"/>
          </a:xfrm>
          <a:custGeom>
            <a:avLst/>
            <a:gdLst/>
            <a:ahLst/>
            <a:cxnLst/>
            <a:rect l="l" t="t" r="r" b="b"/>
            <a:pathLst>
              <a:path w="8498670" h="2361309">
                <a:moveTo>
                  <a:pt x="0" y="0"/>
                </a:moveTo>
                <a:lnTo>
                  <a:pt x="8498670" y="0"/>
                </a:lnTo>
                <a:lnTo>
                  <a:pt x="8498670" y="2361309"/>
                </a:lnTo>
                <a:lnTo>
                  <a:pt x="0" y="236130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0" y="7280704"/>
            <a:ext cx="16986402" cy="2798589"/>
          </a:xfrm>
          <a:custGeom>
            <a:avLst/>
            <a:gdLst/>
            <a:ahLst/>
            <a:cxnLst/>
            <a:rect l="l" t="t" r="r" b="b"/>
            <a:pathLst>
              <a:path w="16986402" h="2798589">
                <a:moveTo>
                  <a:pt x="0" y="0"/>
                </a:moveTo>
                <a:lnTo>
                  <a:pt x="16986402" y="0"/>
                </a:lnTo>
                <a:lnTo>
                  <a:pt x="16986402" y="2798588"/>
                </a:lnTo>
                <a:lnTo>
                  <a:pt x="0" y="2798588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1301598" y="6635716"/>
            <a:ext cx="1312536" cy="3443576"/>
          </a:xfrm>
          <a:custGeom>
            <a:avLst/>
            <a:gdLst/>
            <a:ahLst/>
            <a:cxnLst/>
            <a:rect l="l" t="t" r="r" b="b"/>
            <a:pathLst>
              <a:path w="1312536" h="3443576">
                <a:moveTo>
                  <a:pt x="0" y="0"/>
                </a:moveTo>
                <a:lnTo>
                  <a:pt x="1312536" y="0"/>
                </a:lnTo>
                <a:lnTo>
                  <a:pt x="1312536" y="3443576"/>
                </a:lnTo>
                <a:lnTo>
                  <a:pt x="0" y="3443576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>
            <a:off x="2176622" y="5990729"/>
            <a:ext cx="1531292" cy="4088563"/>
          </a:xfrm>
          <a:custGeom>
            <a:avLst/>
            <a:gdLst/>
            <a:ahLst/>
            <a:cxnLst/>
            <a:rect l="l" t="t" r="r" b="b"/>
            <a:pathLst>
              <a:path w="1531292" h="4088563">
                <a:moveTo>
                  <a:pt x="0" y="0"/>
                </a:moveTo>
                <a:lnTo>
                  <a:pt x="1531292" y="0"/>
                </a:lnTo>
                <a:lnTo>
                  <a:pt x="1531292" y="4088563"/>
                </a:lnTo>
                <a:lnTo>
                  <a:pt x="0" y="4088563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>
            <a:off x="12840976" y="6635716"/>
            <a:ext cx="1312536" cy="3443576"/>
          </a:xfrm>
          <a:custGeom>
            <a:avLst/>
            <a:gdLst/>
            <a:ahLst/>
            <a:cxnLst/>
            <a:rect l="l" t="t" r="r" b="b"/>
            <a:pathLst>
              <a:path w="1312536" h="3443576">
                <a:moveTo>
                  <a:pt x="0" y="0"/>
                </a:moveTo>
                <a:lnTo>
                  <a:pt x="1312536" y="0"/>
                </a:lnTo>
                <a:lnTo>
                  <a:pt x="1312536" y="3443576"/>
                </a:lnTo>
                <a:lnTo>
                  <a:pt x="0" y="3443576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/>
            </a:stretch>
          </a:blipFill>
        </p:spPr>
      </p:sp>
      <p:sp>
        <p:nvSpPr>
          <p:cNvPr id="10" name="Freeform 10"/>
          <p:cNvSpPr/>
          <p:nvPr/>
        </p:nvSpPr>
        <p:spPr>
          <a:xfrm>
            <a:off x="13923818" y="7280704"/>
            <a:ext cx="1104718" cy="2579949"/>
          </a:xfrm>
          <a:custGeom>
            <a:avLst/>
            <a:gdLst/>
            <a:ahLst/>
            <a:cxnLst/>
            <a:rect l="l" t="t" r="r" b="b"/>
            <a:pathLst>
              <a:path w="1104718" h="2579949">
                <a:moveTo>
                  <a:pt x="0" y="0"/>
                </a:moveTo>
                <a:lnTo>
                  <a:pt x="1104718" y="0"/>
                </a:lnTo>
                <a:lnTo>
                  <a:pt x="1104718" y="2579948"/>
                </a:lnTo>
                <a:lnTo>
                  <a:pt x="0" y="2579948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/>
            </a:stretch>
          </a:blipFill>
        </p:spPr>
      </p:sp>
      <p:sp>
        <p:nvSpPr>
          <p:cNvPr id="11" name="Freeform 11"/>
          <p:cNvSpPr/>
          <p:nvPr/>
        </p:nvSpPr>
        <p:spPr>
          <a:xfrm>
            <a:off x="0" y="9423373"/>
            <a:ext cx="18288000" cy="863627"/>
          </a:xfrm>
          <a:custGeom>
            <a:avLst/>
            <a:gdLst/>
            <a:ahLst/>
            <a:cxnLst/>
            <a:rect l="l" t="t" r="r" b="b"/>
            <a:pathLst>
              <a:path w="18288000" h="863627">
                <a:moveTo>
                  <a:pt x="0" y="0"/>
                </a:moveTo>
                <a:lnTo>
                  <a:pt x="18288000" y="0"/>
                </a:lnTo>
                <a:lnTo>
                  <a:pt x="18288000" y="863627"/>
                </a:lnTo>
                <a:lnTo>
                  <a:pt x="0" y="863627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/>
            </a:stretch>
          </a:blipFill>
        </p:spPr>
      </p:sp>
      <p:sp>
        <p:nvSpPr>
          <p:cNvPr id="12" name="TextBox 12"/>
          <p:cNvSpPr txBox="1"/>
          <p:nvPr/>
        </p:nvSpPr>
        <p:spPr>
          <a:xfrm>
            <a:off x="5105400" y="952502"/>
            <a:ext cx="7467600" cy="542456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4129"/>
              </a:lnSpc>
            </a:pPr>
            <a:endParaRPr lang="en-US" sz="14129" b="1" spc="282" dirty="0">
              <a:solidFill>
                <a:srgbClr val="141D40"/>
              </a:solidFill>
              <a:latin typeface="Heading Now 31-38 Bold"/>
              <a:ea typeface="Heading Now 31-38 Bold"/>
              <a:cs typeface="Heading Now 31-38 Bold"/>
              <a:sym typeface="Heading Now 31-38 Bold"/>
            </a:endParaRPr>
          </a:p>
          <a:p>
            <a:pPr algn="ctr">
              <a:lnSpc>
                <a:spcPts val="14129"/>
              </a:lnSpc>
            </a:pPr>
            <a:r>
              <a:rPr lang="en-US" sz="14129" b="1" spc="282" dirty="0">
                <a:solidFill>
                  <a:srgbClr val="141D40"/>
                </a:solidFill>
                <a:latin typeface="Heading Now 31-38 Bold"/>
                <a:ea typeface="Heading Now 31-38 Bold"/>
                <a:cs typeface="Heading Now 31-38 Bold"/>
                <a:sym typeface="Heading Now 31-38 Bold"/>
              </a:rPr>
              <a:t>THANK YOU!</a:t>
            </a:r>
          </a:p>
          <a:p>
            <a:pPr algn="ctr">
              <a:lnSpc>
                <a:spcPts val="14129"/>
              </a:lnSpc>
            </a:pPr>
            <a:endParaRPr lang="en-US" sz="14129" b="1" spc="282" dirty="0">
              <a:solidFill>
                <a:srgbClr val="141D40"/>
              </a:solidFill>
              <a:latin typeface="Heading Now 31-38 Bold"/>
              <a:ea typeface="Heading Now 31-38 Bold"/>
              <a:cs typeface="Heading Now 31-38 Bold"/>
              <a:sym typeface="Heading Now 31-38 Bold"/>
            </a:endParaRPr>
          </a:p>
        </p:txBody>
      </p:sp>
      <p:sp>
        <p:nvSpPr>
          <p:cNvPr id="13" name="Freeform 13"/>
          <p:cNvSpPr/>
          <p:nvPr/>
        </p:nvSpPr>
        <p:spPr>
          <a:xfrm>
            <a:off x="3259464" y="5459607"/>
            <a:ext cx="11769072" cy="218640"/>
          </a:xfrm>
          <a:custGeom>
            <a:avLst/>
            <a:gdLst/>
            <a:ahLst/>
            <a:cxnLst/>
            <a:rect l="l" t="t" r="r" b="b"/>
            <a:pathLst>
              <a:path w="11769072" h="218640">
                <a:moveTo>
                  <a:pt x="0" y="0"/>
                </a:moveTo>
                <a:lnTo>
                  <a:pt x="11769072" y="0"/>
                </a:lnTo>
                <a:lnTo>
                  <a:pt x="11769072" y="218639"/>
                </a:lnTo>
                <a:lnTo>
                  <a:pt x="0" y="218639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/>
            </a:stretch>
          </a:blipFill>
        </p:spPr>
      </p:sp>
      <p:sp>
        <p:nvSpPr>
          <p:cNvPr id="14" name="TextBox 14"/>
          <p:cNvSpPr txBox="1"/>
          <p:nvPr/>
        </p:nvSpPr>
        <p:spPr>
          <a:xfrm>
            <a:off x="7517132" y="5877000"/>
            <a:ext cx="3296956" cy="87451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554"/>
              </a:lnSpc>
            </a:pPr>
            <a:r>
              <a:rPr lang="en-US" sz="5554" b="1" spc="276">
                <a:solidFill>
                  <a:srgbClr val="323F9D"/>
                </a:solidFill>
                <a:latin typeface="Heading Now 31-38 Bold"/>
                <a:ea typeface="Heading Now 31-38 Bold"/>
                <a:cs typeface="Heading Now 31-38 Bold"/>
                <a:sym typeface="Heading Now 31-38 Bold"/>
              </a:rPr>
              <a:t>VORTEXA 3.0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8581401" y="7052188"/>
            <a:ext cx="1168417" cy="8657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554"/>
              </a:lnSpc>
            </a:pPr>
            <a:r>
              <a:rPr lang="en-US" sz="5554" b="1" spc="276">
                <a:solidFill>
                  <a:srgbClr val="ED8076"/>
                </a:solidFill>
                <a:latin typeface="Heading Now 31-38 Bold"/>
                <a:ea typeface="Heading Now 31-38 Bold"/>
                <a:cs typeface="Heading Now 31-38 Bold"/>
                <a:sym typeface="Heading Now 31-38 Bold"/>
              </a:rPr>
              <a:t>AIRS</a:t>
            </a:r>
          </a:p>
        </p:txBody>
      </p:sp>
      <p:sp>
        <p:nvSpPr>
          <p:cNvPr id="16" name="TextBox 16"/>
          <p:cNvSpPr txBox="1"/>
          <p:nvPr/>
        </p:nvSpPr>
        <p:spPr>
          <a:xfrm rot="-769921">
            <a:off x="15555796" y="4644632"/>
            <a:ext cx="1911526" cy="17040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255"/>
              </a:lnSpc>
            </a:pPr>
            <a:r>
              <a:rPr lang="en-US" sz="5211">
                <a:solidFill>
                  <a:srgbClr val="ED8076"/>
                </a:solidFill>
                <a:latin typeface="Heading Now 31-38"/>
                <a:ea typeface="Heading Now 31-38"/>
                <a:cs typeface="Heading Now 31-38"/>
                <a:sym typeface="Heading Now 31-38"/>
              </a:rPr>
              <a:t>Game’s</a:t>
            </a:r>
          </a:p>
          <a:p>
            <a:pPr algn="ctr">
              <a:lnSpc>
                <a:spcPts val="6255"/>
              </a:lnSpc>
            </a:pPr>
            <a:r>
              <a:rPr lang="en-US" sz="5211">
                <a:solidFill>
                  <a:srgbClr val="ED8076"/>
                </a:solidFill>
                <a:latin typeface="Heading Now 31-38"/>
                <a:ea typeface="Heading Now 31-38"/>
                <a:cs typeface="Heading Now 31-38"/>
                <a:sym typeface="Heading Now 31-38"/>
              </a:rPr>
              <a:t>Still On</a:t>
            </a:r>
          </a:p>
        </p:txBody>
      </p:sp>
      <p:sp>
        <p:nvSpPr>
          <p:cNvPr id="17" name="Freeform 17"/>
          <p:cNvSpPr/>
          <p:nvPr/>
        </p:nvSpPr>
        <p:spPr>
          <a:xfrm>
            <a:off x="15892622" y="5998497"/>
            <a:ext cx="2187560" cy="1082267"/>
          </a:xfrm>
          <a:custGeom>
            <a:avLst/>
            <a:gdLst/>
            <a:ahLst/>
            <a:cxnLst/>
            <a:rect l="l" t="t" r="r" b="b"/>
            <a:pathLst>
              <a:path w="2187560" h="1082267">
                <a:moveTo>
                  <a:pt x="0" y="0"/>
                </a:moveTo>
                <a:lnTo>
                  <a:pt x="2187560" y="0"/>
                </a:lnTo>
                <a:lnTo>
                  <a:pt x="2187560" y="1082266"/>
                </a:lnTo>
                <a:lnTo>
                  <a:pt x="0" y="1082266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>
              <a:fillRect/>
            </a:stretch>
          </a:blipFill>
        </p:spPr>
      </p:sp>
      <p:sp>
        <p:nvSpPr>
          <p:cNvPr id="18" name="Freeform 18"/>
          <p:cNvSpPr/>
          <p:nvPr/>
        </p:nvSpPr>
        <p:spPr>
          <a:xfrm>
            <a:off x="16178937" y="216170"/>
            <a:ext cx="2160727" cy="2160727"/>
          </a:xfrm>
          <a:custGeom>
            <a:avLst/>
            <a:gdLst/>
            <a:ahLst/>
            <a:cxnLst/>
            <a:rect l="l" t="t" r="r" b="b"/>
            <a:pathLst>
              <a:path w="2160727" h="2160727">
                <a:moveTo>
                  <a:pt x="0" y="0"/>
                </a:moveTo>
                <a:lnTo>
                  <a:pt x="2160726" y="0"/>
                </a:lnTo>
                <a:lnTo>
                  <a:pt x="2160726" y="2160727"/>
                </a:lnTo>
                <a:lnTo>
                  <a:pt x="0" y="2160727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>
              <a:fillRect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91</TotalTime>
  <Words>864</Words>
  <Application>Microsoft Office PowerPoint</Application>
  <PresentationFormat>Custom</PresentationFormat>
  <Paragraphs>99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Heading Now 31-38</vt:lpstr>
      <vt:lpstr>Calibri</vt:lpstr>
      <vt:lpstr>Arial</vt:lpstr>
      <vt:lpstr>Heading Now 31-38 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VORTEXA 3.0 Hackathon</dc:title>
  <dc:creator>ADMIN</dc:creator>
  <cp:lastModifiedBy>ADMIN</cp:lastModifiedBy>
  <cp:revision>4</cp:revision>
  <dcterms:created xsi:type="dcterms:W3CDTF">2006-08-16T00:00:00Z</dcterms:created>
  <dcterms:modified xsi:type="dcterms:W3CDTF">2026-10-11T11:10:15Z</dcterms:modified>
  <dc:identifier>DAHXr7I3BNw</dc:identifier>
</cp:coreProperties>
</file>