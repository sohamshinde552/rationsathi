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0" r:id="rId8"/>
    <p:sldId id="261" r:id="rId9"/>
    <p:sldId id="262" r:id="rId10"/>
    <p:sldId id="263" r:id="rId11"/>
  </p:sldIdLst>
  <p:sldSz cx="18288000" cy="10287000"/>
  <p:notesSz cx="6858000" cy="9144000"/>
  <p:embeddedFontLst>
    <p:embeddedFont>
      <p:font typeface="Heading Now 31-38" panose="020B0604020202020204" charset="0"/>
      <p:regular r:id="rId12"/>
    </p:embeddedFont>
    <p:embeddedFont>
      <p:font typeface="Heading Now 31-38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6893" y="4930326"/>
            <a:ext cx="1790743" cy="1009954"/>
          </a:xfrm>
          <a:custGeom>
            <a:avLst/>
            <a:gdLst/>
            <a:ahLst/>
            <a:cxnLst/>
            <a:rect l="l" t="t" r="r" b="b"/>
            <a:pathLst>
              <a:path w="1790743" h="1009954">
                <a:moveTo>
                  <a:pt x="0" y="0"/>
                </a:moveTo>
                <a:lnTo>
                  <a:pt x="1790744" y="0"/>
                </a:lnTo>
                <a:lnTo>
                  <a:pt x="1790744" y="1009954"/>
                </a:lnTo>
                <a:lnTo>
                  <a:pt x="0" y="100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36676" y="6563781"/>
            <a:ext cx="1488432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1"/>
              </a:lnSpc>
            </a:pPr>
            <a:r>
              <a:rPr lang="en-US" sz="4771" b="1" spc="46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NAME : </a:t>
            </a:r>
            <a:r>
              <a:rPr lang="en-US" sz="4771" spc="46" dirty="0">
                <a:latin typeface="Heading Now 31-38" panose="020B0604020202020204" charset="0"/>
                <a:ea typeface="Heading Now 31-38 Bold"/>
                <a:cs typeface="Heading Now 31-38 Bold"/>
                <a:sym typeface="Heading Now 31-38 Bold"/>
              </a:rPr>
              <a:t>The Merge conflicts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6677" y="4655619"/>
            <a:ext cx="15970264" cy="658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48"/>
              </a:lnSpc>
            </a:pPr>
            <a:r>
              <a:rPr lang="en-US" sz="5148" b="1" spc="50" dirty="0">
                <a:solidFill>
                  <a:schemeClr val="accent4">
                    <a:lumMod val="75000"/>
                  </a:schemeClr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 TITLE</a:t>
            </a:r>
            <a:r>
              <a:rPr lang="en-US" sz="5148" b="1" spc="50" dirty="0">
                <a:solidFill>
                  <a:srgbClr val="1A2651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: </a:t>
            </a:r>
            <a:r>
              <a:rPr lang="fr-FR" sz="5400" dirty="0" err="1">
                <a:latin typeface="Heading Now 31-38" panose="020B0604020202020204" charset="0"/>
              </a:rPr>
              <a:t>RationSaathi</a:t>
            </a:r>
            <a:r>
              <a:rPr lang="fr-FR" sz="5400" dirty="0">
                <a:latin typeface="Heading Now 31-38" panose="020B0604020202020204" charset="0"/>
              </a:rPr>
              <a:t>: Public Distribution </a:t>
            </a:r>
            <a:r>
              <a:rPr lang="fr-FR" sz="5400" dirty="0" err="1">
                <a:latin typeface="Heading Now 31-38" panose="020B0604020202020204" charset="0"/>
              </a:rPr>
              <a:t>Entitlement</a:t>
            </a:r>
            <a:r>
              <a:rPr lang="fr-FR" sz="5400" dirty="0">
                <a:latin typeface="Heading Now 31-38" panose="020B0604020202020204" charset="0"/>
              </a:rPr>
              <a:t> &amp; Dispute Assistant</a:t>
            </a:r>
            <a:r>
              <a:rPr lang="en-US" sz="5148" b="1" spc="50" dirty="0">
                <a:solidFill>
                  <a:srgbClr val="1A2651"/>
                </a:solidFill>
                <a:latin typeface="Heading Now 31-38" panose="020B0604020202020204" charset="0"/>
                <a:ea typeface="Heading Now 31-38 Bold"/>
                <a:cs typeface="Heading Now 31-38 Bold"/>
                <a:sym typeface="Heading Now 31-38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6677" y="3700840"/>
            <a:ext cx="6250076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5148" b="1" spc="50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DOMAIN &amp; NO :</a:t>
            </a:r>
            <a:r>
              <a:rPr lang="en-US" sz="5148" b="1" spc="50" dirty="0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  </a:t>
            </a:r>
            <a:r>
              <a:rPr lang="en-US" sz="5148" b="1" spc="50" dirty="0">
                <a:solidFill>
                  <a:srgbClr val="161F3E"/>
                </a:solidFill>
                <a:latin typeface="Heading Now 31-38"/>
                <a:ea typeface="Heading Now 31-38 Bold"/>
                <a:cs typeface="Heading Now 31-38 Bold"/>
                <a:sym typeface="Heading Now 31-38"/>
              </a:rPr>
              <a:t>6</a:t>
            </a:r>
            <a:r>
              <a:rPr lang="en-US" sz="5148" spc="50" dirty="0">
                <a:solidFill>
                  <a:srgbClr val="161F3E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, P-01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677" y="7525335"/>
            <a:ext cx="14884322" cy="2331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72"/>
              </a:lnSpc>
            </a:pPr>
            <a:r>
              <a:rPr lang="en-US" sz="4472" b="1" spc="43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ID : </a:t>
            </a:r>
            <a:r>
              <a:rPr lang="en-US" sz="5400" dirty="0">
                <a:latin typeface="Heading Now 31-38" panose="020B0604020202020204" charset="0"/>
              </a:rPr>
              <a:t>WII 7779664</a:t>
            </a:r>
          </a:p>
          <a:p>
            <a:pPr>
              <a:lnSpc>
                <a:spcPts val="4472"/>
              </a:lnSpc>
            </a:pPr>
            <a:endParaRPr lang="en-US" sz="5400" spc="43" dirty="0">
              <a:solidFill>
                <a:srgbClr val="4E4A76"/>
              </a:solidFill>
              <a:latin typeface="Heading Now 31-38" panose="020B0604020202020204" charset="0"/>
              <a:ea typeface="Heading Now 31-38 Bold"/>
              <a:cs typeface="Heading Now 31-38 Bold"/>
              <a:sym typeface="Heading Now 31-38 Bold"/>
            </a:endParaRPr>
          </a:p>
          <a:p>
            <a:pPr>
              <a:lnSpc>
                <a:spcPts val="4472"/>
              </a:lnSpc>
            </a:pPr>
            <a:r>
              <a:rPr lang="en-US" sz="5400" b="1" dirty="0">
                <a:solidFill>
                  <a:schemeClr val="accent4">
                    <a:lumMod val="75000"/>
                  </a:schemeClr>
                </a:solidFill>
                <a:latin typeface="Heading Now 31-38" panose="020B0604020202020204" charset="0"/>
              </a:rPr>
              <a:t>Tagline:</a:t>
            </a:r>
            <a:r>
              <a:rPr lang="en-US" sz="5400" dirty="0">
                <a:solidFill>
                  <a:schemeClr val="accent4">
                    <a:lumMod val="75000"/>
                  </a:schemeClr>
                </a:solidFill>
                <a:latin typeface="Heading Now 31-38" panose="020B0604020202020204" charset="0"/>
              </a:rPr>
              <a:t> </a:t>
            </a:r>
            <a:r>
              <a:rPr lang="en-US" sz="5400" dirty="0">
                <a:latin typeface="Heading Now 31-38" panose="020B0604020202020204" charset="0"/>
              </a:rPr>
              <a:t>Every delivery counted. Every claim supported by evidence</a:t>
            </a:r>
            <a:r>
              <a:rPr lang="en-US" sz="5400" dirty="0">
                <a:solidFill>
                  <a:schemeClr val="accent4">
                    <a:lumMod val="75000"/>
                  </a:schemeClr>
                </a:solidFill>
                <a:latin typeface="Heading Now 31-38" panose="020B0604020202020204" charset="0"/>
              </a:rPr>
              <a:t>.</a:t>
            </a:r>
          </a:p>
          <a:p>
            <a:pPr>
              <a:lnSpc>
                <a:spcPts val="4472"/>
              </a:lnSpc>
            </a:pPr>
            <a:endParaRPr lang="en-US" sz="5400" spc="43" dirty="0">
              <a:solidFill>
                <a:srgbClr val="4E4A76"/>
              </a:solidFill>
              <a:latin typeface="Heading Now 31-38" panose="020B0604020202020204" charset="0"/>
              <a:ea typeface="Heading Now 31-38 Bold"/>
              <a:cs typeface="Heading Now 31-38 Bold"/>
              <a:sym typeface="Heading Now 31-38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6127273" y="239946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7" y="0"/>
                </a:lnTo>
                <a:lnTo>
                  <a:pt x="2160727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4418" y="366545"/>
            <a:ext cx="15712382" cy="1744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 dirty="0">
                <a:solidFill>
                  <a:srgbClr val="3C3B56">
                    <a:alpha val="84706"/>
                  </a:srgbClr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86268" y="366545"/>
            <a:ext cx="1413653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>
                <a:solidFill>
                  <a:srgbClr val="7F5E87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3.0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7876" y="2201546"/>
            <a:ext cx="5496285" cy="239623"/>
          </a:xfrm>
          <a:custGeom>
            <a:avLst/>
            <a:gdLst/>
            <a:ahLst/>
            <a:cxnLst/>
            <a:rect l="l" t="t" r="r" b="b"/>
            <a:pathLst>
              <a:path w="5496285" h="239623">
                <a:moveTo>
                  <a:pt x="0" y="0"/>
                </a:moveTo>
                <a:lnTo>
                  <a:pt x="5496285" y="0"/>
                </a:lnTo>
                <a:lnTo>
                  <a:pt x="5496285" y="239623"/>
                </a:lnTo>
                <a:lnTo>
                  <a:pt x="0" y="239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181496" y="1747988"/>
            <a:ext cx="2453149" cy="57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3608" b="1" spc="89">
                <a:solidFill>
                  <a:srgbClr val="3F3F3F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12 HRS HACKATHON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6677" y="2531879"/>
            <a:ext cx="2119254" cy="4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721" b="1" spc="67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POWERED BY </a:t>
            </a:r>
            <a:r>
              <a:rPr lang="en-US" sz="2721" b="1" spc="67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A.I.R.S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-303755"/>
            <a:ext cx="1750048" cy="10607152"/>
          </a:xfrm>
          <a:custGeom>
            <a:avLst/>
            <a:gdLst/>
            <a:ahLst/>
            <a:cxnLst/>
            <a:rect l="l" t="t" r="r" b="b"/>
            <a:pathLst>
              <a:path w="1750048" h="10607152">
                <a:moveTo>
                  <a:pt x="0" y="0"/>
                </a:moveTo>
                <a:lnTo>
                  <a:pt x="1750048" y="0"/>
                </a:lnTo>
                <a:lnTo>
                  <a:pt x="1750048" y="10607153"/>
                </a:lnTo>
                <a:lnTo>
                  <a:pt x="0" y="10607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r="-3785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14"/>
          <p:cNvSpPr/>
          <p:nvPr/>
        </p:nvSpPr>
        <p:spPr>
          <a:xfrm>
            <a:off x="14361330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739803" y="7046873"/>
            <a:ext cx="5548197" cy="3256525"/>
          </a:xfrm>
          <a:custGeom>
            <a:avLst/>
            <a:gdLst/>
            <a:ahLst/>
            <a:cxnLst/>
            <a:rect l="l" t="t" r="r" b="b"/>
            <a:pathLst>
              <a:path w="5548197" h="3256525">
                <a:moveTo>
                  <a:pt x="0" y="0"/>
                </a:moveTo>
                <a:lnTo>
                  <a:pt x="5548197" y="0"/>
                </a:lnTo>
                <a:lnTo>
                  <a:pt x="5548197" y="3256525"/>
                </a:lnTo>
                <a:lnTo>
                  <a:pt x="0" y="325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154" b="-3059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975464" y="5474537"/>
            <a:ext cx="1312536" cy="4088563"/>
          </a:xfrm>
          <a:custGeom>
            <a:avLst/>
            <a:gdLst/>
            <a:ahLst/>
            <a:cxnLst/>
            <a:rect l="l" t="t" r="r" b="b"/>
            <a:pathLst>
              <a:path w="1312536" h="4088563">
                <a:moveTo>
                  <a:pt x="0" y="0"/>
                </a:moveTo>
                <a:lnTo>
                  <a:pt x="1312536" y="0"/>
                </a:lnTo>
                <a:lnTo>
                  <a:pt x="131253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706941" y="7046873"/>
            <a:ext cx="1104718" cy="2372241"/>
          </a:xfrm>
          <a:custGeom>
            <a:avLst/>
            <a:gdLst/>
            <a:ahLst/>
            <a:cxnLst/>
            <a:rect l="l" t="t" r="r" b="b"/>
            <a:pathLst>
              <a:path w="1104718" h="2372241">
                <a:moveTo>
                  <a:pt x="0" y="0"/>
                </a:moveTo>
                <a:lnTo>
                  <a:pt x="1104718" y="0"/>
                </a:lnTo>
                <a:lnTo>
                  <a:pt x="1104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727951" y="2550929"/>
            <a:ext cx="3560049" cy="1756785"/>
          </a:xfrm>
          <a:custGeom>
            <a:avLst/>
            <a:gdLst/>
            <a:ahLst/>
            <a:cxnLst/>
            <a:rect l="l" t="t" r="r" b="b"/>
            <a:pathLst>
              <a:path w="3560049" h="1756785">
                <a:moveTo>
                  <a:pt x="0" y="0"/>
                </a:moveTo>
                <a:lnTo>
                  <a:pt x="3560049" y="0"/>
                </a:lnTo>
                <a:lnTo>
                  <a:pt x="3560049" y="1756784"/>
                </a:lnTo>
                <a:lnTo>
                  <a:pt x="0" y="1756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7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55295" y="108648"/>
            <a:ext cx="1672016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582AF289-08DA-A814-07F4-1A59AA5BD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848873"/>
            <a:ext cx="18059399" cy="8848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5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ading Now 31-38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200" b="1" dirty="0">
                <a:latin typeface="Heading Now 31-38" panose="020B0604020202020204" charset="0"/>
              </a:rPr>
              <a:t>The Problem</a:t>
            </a:r>
          </a:p>
          <a:p>
            <a:r>
              <a:rPr lang="en-US" sz="5200" dirty="0">
                <a:latin typeface="Heading Now 31-38" panose="020B0604020202020204" charset="0"/>
              </a:rPr>
              <a:t>Families often receive government rations in multiple partial deliveries and struggle to track how much they are entitled to receive.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200" b="1" dirty="0">
                <a:latin typeface="Heading Now 31-38" panose="020B0604020202020204" charset="0"/>
              </a:rPr>
              <a:t>Why It Matters</a:t>
            </a:r>
          </a:p>
          <a:p>
            <a:r>
              <a:rPr lang="en-US" sz="5200" dirty="0">
                <a:latin typeface="Heading Now 31-38" panose="020B0604020202020204" charset="0"/>
              </a:rPr>
              <a:t>Paper receipts may be handwritten, unclear or lost.</a:t>
            </a:r>
          </a:p>
          <a:p>
            <a:r>
              <a:rPr lang="en-US" sz="5200" dirty="0">
                <a:latin typeface="Heading Now 31-38" panose="020B0604020202020204" charset="0"/>
              </a:rPr>
              <a:t>Families cannot easily calculate their remaining entitlement.</a:t>
            </a:r>
          </a:p>
          <a:p>
            <a:r>
              <a:rPr lang="en-US" sz="5200" dirty="0">
                <a:latin typeface="Heading Now 31-38" panose="020B0604020202020204" charset="0"/>
              </a:rPr>
              <a:t>Missing quantities do not always mean wrongdoing; delays and supply shortages may also be responsible.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200" b="1" dirty="0">
                <a:latin typeface="Heading Now 31-38" panose="020B0604020202020204" charset="0"/>
              </a:rPr>
              <a:t>Our Challenge</a:t>
            </a:r>
          </a:p>
          <a:p>
            <a:r>
              <a:rPr lang="en-US" sz="5200" dirty="0">
                <a:latin typeface="Heading Now 31-38" panose="020B0604020202020204" charset="0"/>
              </a:rPr>
              <a:t>Build a simple, reliable system that calculates recorded differences, organizes supporting evidence and helps families prepare clear, neutral grievance reports without making unsupported accusations.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-57150"/>
            <a:ext cx="1611137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IDEA TITLE / PROPOSED SOLUTION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293EBEF6-B2A7-FCB5-FD0B-37793FB47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295" y="1295282"/>
            <a:ext cx="18288000" cy="10910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4900" b="1" dirty="0" err="1">
                <a:latin typeface="Heading Now 31-38" panose="020B0604020202020204" charset="0"/>
              </a:rPr>
              <a:t>RationSaathi</a:t>
            </a:r>
            <a:r>
              <a:rPr lang="en-US" sz="4900" b="1" dirty="0">
                <a:latin typeface="Heading Now 31-38" panose="020B0604020202020204" charset="0"/>
              </a:rPr>
              <a:t> — Your Smart Ration Record Book</a:t>
            </a:r>
          </a:p>
          <a:p>
            <a:r>
              <a:rPr lang="en-US" sz="4900" dirty="0" err="1">
                <a:latin typeface="Heading Now 31-38" panose="020B0604020202020204" charset="0"/>
              </a:rPr>
              <a:t>RationSaathi</a:t>
            </a:r>
            <a:r>
              <a:rPr lang="en-US" sz="4900" dirty="0">
                <a:latin typeface="Heading Now 31-38" panose="020B0604020202020204" charset="0"/>
              </a:rPr>
              <a:t> is an AI-assisted application that helps families track their ration entitlement and verify recorded deliveries.</a:t>
            </a:r>
          </a:p>
          <a:p>
            <a:r>
              <a:rPr lang="en-US" sz="4900" b="1" dirty="0">
                <a:latin typeface="Heading Now 31-38" panose="020B0604020202020204" charset="0"/>
              </a:rPr>
              <a:t>How it works:</a:t>
            </a:r>
            <a:endParaRPr lang="en-US" sz="4900" dirty="0">
              <a:latin typeface="Heading Now 31-38" panose="020B0604020202020204" charset="0"/>
            </a:endParaRPr>
          </a:p>
          <a:p>
            <a:pPr marL="914400" indent="-914400">
              <a:buFont typeface="+mj-lt"/>
              <a:buAutoNum type="arabicPeriod"/>
            </a:pPr>
            <a:r>
              <a:rPr lang="en-US" sz="4900" b="1" dirty="0">
                <a:latin typeface="Heading Now 31-38" panose="020B0604020202020204" charset="0"/>
              </a:rPr>
              <a:t>Set Entitlement:</a:t>
            </a:r>
            <a:r>
              <a:rPr lang="en-US" sz="4900" dirty="0">
                <a:latin typeface="Heading Now 31-38" panose="020B0604020202020204" charset="0"/>
              </a:rPr>
              <a:t> Enter the applicable ration rule, family size and distribution period.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4900" b="1" dirty="0">
                <a:latin typeface="Heading Now 31-38" panose="020B0604020202020204" charset="0"/>
              </a:rPr>
              <a:t>Upload or Record:</a:t>
            </a:r>
            <a:r>
              <a:rPr lang="en-US" sz="4900" dirty="0">
                <a:latin typeface="Heading Now 31-38" panose="020B0604020202020204" charset="0"/>
              </a:rPr>
              <a:t> Add receipt details or manually enter each delivery.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4900" b="1" dirty="0">
                <a:latin typeface="Heading Now 31-38" panose="020B0604020202020204" charset="0"/>
              </a:rPr>
              <a:t>AI Suggests:</a:t>
            </a:r>
            <a:r>
              <a:rPr lang="en-US" sz="4900" dirty="0">
                <a:latin typeface="Heading Now 31-38" panose="020B0604020202020204" charset="0"/>
              </a:rPr>
              <a:t> Receipt scanning can suggest the date, commodity and quantity.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4900" b="1" dirty="0">
                <a:latin typeface="Heading Now 31-38" panose="020B0604020202020204" charset="0"/>
              </a:rPr>
              <a:t>Human Confirms:</a:t>
            </a:r>
            <a:r>
              <a:rPr lang="en-US" sz="4900" dirty="0">
                <a:latin typeface="Heading Now 31-38" panose="020B0604020202020204" charset="0"/>
              </a:rPr>
              <a:t> Users review and confirm every extracted value before it enters the calculation.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4900" b="1" dirty="0">
                <a:latin typeface="Heading Now 31-38" panose="020B0604020202020204" charset="0"/>
              </a:rPr>
              <a:t>Calculate &amp; Report:</a:t>
            </a:r>
            <a:r>
              <a:rPr lang="en-US" sz="4900" dirty="0">
                <a:latin typeface="Heading Now 31-38" panose="020B0604020202020204" charset="0"/>
              </a:rPr>
              <a:t> The system totals confirmed deliveries, identifies differences and generates an evidence-linked PDF report.</a:t>
            </a:r>
          </a:p>
          <a:p>
            <a:r>
              <a:rPr lang="en-US" sz="4900" b="1" dirty="0">
                <a:latin typeface="Heading Now 31-38" panose="020B0604020202020204" charset="0"/>
              </a:rPr>
              <a:t>Example:</a:t>
            </a:r>
            <a:r>
              <a:rPr lang="en-US" sz="4900" dirty="0">
                <a:latin typeface="Heading Now 31-38" panose="020B0604020202020204" charset="0"/>
              </a:rPr>
              <a:t> If the entered entitlement is 20 kg and confirmed deliveries total 15 kg, </a:t>
            </a:r>
            <a:r>
              <a:rPr lang="en-US" sz="4900" dirty="0" err="1">
                <a:latin typeface="Heading Now 31-38" panose="020B0604020202020204" charset="0"/>
              </a:rPr>
              <a:t>RationSaathi</a:t>
            </a:r>
            <a:r>
              <a:rPr lang="en-US" sz="4900" dirty="0">
                <a:latin typeface="Heading Now 31-38" panose="020B0604020202020204" charset="0"/>
              </a:rPr>
              <a:t> reports a </a:t>
            </a:r>
            <a:r>
              <a:rPr lang="en-US" sz="4900" b="1" dirty="0">
                <a:latin typeface="Heading Now 31-38" panose="020B0604020202020204" charset="0"/>
              </a:rPr>
              <a:t>5 kg documented difference requiring verification</a:t>
            </a:r>
            <a:r>
              <a:rPr lang="en-US" sz="4900" dirty="0">
                <a:latin typeface="Heading Now 31-38" panose="020B0604020202020204" charset="0"/>
              </a:rPr>
              <a:t>.</a:t>
            </a:r>
          </a:p>
          <a:p>
            <a:endParaRPr lang="en-US" sz="5200" dirty="0">
              <a:latin typeface="Heading Now 31-38" panose="020B0604020202020204" charset="0"/>
            </a:endParaRPr>
          </a:p>
          <a:p>
            <a:endParaRPr lang="en-US" sz="5400" dirty="0">
              <a:latin typeface="Heading Now 31-38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469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-57151"/>
            <a:ext cx="16701473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TECHNICAL APPROACH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736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11E3D832-5347-211F-BAC7-F07A43034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365" y="2851833"/>
            <a:ext cx="18082299" cy="5032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5400" b="1" dirty="0">
                <a:latin typeface="Heading Now 31-38" panose="020B0604020202020204" charset="0"/>
              </a:rPr>
              <a:t>Technology Stack</a:t>
            </a:r>
          </a:p>
          <a:p>
            <a:pPr lvl="0"/>
            <a:r>
              <a:rPr lang="en-IN" sz="5400" b="1" dirty="0">
                <a:latin typeface="Heading Now 31-38" panose="020B0604020202020204" charset="0"/>
              </a:rPr>
              <a:t>Frontend:</a:t>
            </a:r>
            <a:r>
              <a:rPr lang="en-IN" sz="5400" dirty="0">
                <a:latin typeface="Heading Now 31-38" panose="020B0604020202020204" charset="0"/>
              </a:rPr>
              <a:t> Plain JavaScript in a single HTML page</a:t>
            </a:r>
          </a:p>
          <a:p>
            <a:pPr lvl="0"/>
            <a:r>
              <a:rPr lang="en-IN" sz="5400" b="1" dirty="0">
                <a:latin typeface="Heading Now 31-38" panose="020B0604020202020204" charset="0"/>
              </a:rPr>
              <a:t>Backend:</a:t>
            </a:r>
            <a:r>
              <a:rPr lang="en-IN" sz="5400" dirty="0">
                <a:latin typeface="Heading Now 31-38" panose="020B0604020202020204" charset="0"/>
              </a:rPr>
              <a:t> Node.js, Express 5 and TypeScript</a:t>
            </a:r>
          </a:p>
          <a:p>
            <a:pPr lvl="0"/>
            <a:r>
              <a:rPr lang="en-IN" sz="5400" b="1" dirty="0">
                <a:latin typeface="Heading Now 31-38" panose="020B0604020202020204" charset="0"/>
              </a:rPr>
              <a:t>Database:</a:t>
            </a:r>
            <a:r>
              <a:rPr lang="en-IN" sz="5400" dirty="0">
                <a:latin typeface="Heading Now 31-38" panose="020B0604020202020204" charset="0"/>
              </a:rPr>
              <a:t> </a:t>
            </a:r>
            <a:r>
              <a:rPr lang="en-IN" sz="5400" dirty="0" err="1">
                <a:latin typeface="Heading Now 31-38" panose="020B0604020202020204" charset="0"/>
              </a:rPr>
              <a:t>Supabase</a:t>
            </a:r>
            <a:r>
              <a:rPr lang="en-IN" sz="5400" dirty="0">
                <a:latin typeface="Heading Now 31-38" panose="020B0604020202020204" charset="0"/>
              </a:rPr>
              <a:t> (PostgreSQL) with row-level security, so users see only their own data</a:t>
            </a:r>
          </a:p>
          <a:p>
            <a:pPr lvl="0"/>
            <a:r>
              <a:rPr lang="en-IN" sz="5400" b="1" dirty="0">
                <a:latin typeface="Heading Now 31-38" panose="020B0604020202020204" charset="0"/>
              </a:rPr>
              <a:t>Hosting:</a:t>
            </a:r>
            <a:r>
              <a:rPr lang="en-IN" sz="5400" dirty="0">
                <a:latin typeface="Heading Now 31-38" panose="020B0604020202020204" charset="0"/>
              </a:rPr>
              <a:t> </a:t>
            </a:r>
            <a:r>
              <a:rPr lang="en-IN" sz="5400" dirty="0" err="1">
                <a:latin typeface="Heading Now 31-38" panose="020B0604020202020204" charset="0"/>
              </a:rPr>
              <a:t>Vercel</a:t>
            </a:r>
            <a:r>
              <a:rPr lang="en-IN" sz="5400" dirty="0">
                <a:latin typeface="Heading Now 31-38" panose="020B0604020202020204" charset="0"/>
              </a:rPr>
              <a:t>, auto-deployed from GitHub</a:t>
            </a:r>
          </a:p>
          <a:p>
            <a:pPr lvl="0"/>
            <a:r>
              <a:rPr lang="en-IN" sz="5400" b="1" dirty="0">
                <a:latin typeface="Heading Now 31-38" panose="020B0604020202020204" charset="0"/>
              </a:rPr>
              <a:t>Testing:</a:t>
            </a:r>
            <a:r>
              <a:rPr lang="en-IN" sz="5400" dirty="0">
                <a:latin typeface="Heading Now 31-38" panose="020B0604020202020204" charset="0"/>
              </a:rPr>
              <a:t> 32 Jest unit tests and 28 Playwright end-to-end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DEE3008-5B43-6022-4B15-63F2A0F4C9A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73DDD-9202-AED1-C637-6E71E4F45C4C}"/>
              </a:ext>
            </a:extLst>
          </p:cNvPr>
          <p:cNvSpPr txBox="1"/>
          <p:nvPr/>
        </p:nvSpPr>
        <p:spPr>
          <a:xfrm>
            <a:off x="228600" y="419101"/>
            <a:ext cx="17373600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500" b="1" dirty="0">
                <a:latin typeface="Heading Now 31-38" panose="020B0604020202020204" charset="0"/>
              </a:rPr>
              <a:t>System Workflow</a:t>
            </a:r>
          </a:p>
          <a:p>
            <a:pPr>
              <a:buNone/>
            </a:pPr>
            <a:r>
              <a:rPr lang="en-US" sz="4500" dirty="0">
                <a:latin typeface="Heading Now 31-38" panose="020B0604020202020204" charset="0"/>
              </a:rPr>
              <a:t>User Input / Receipt Upload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dirty="0">
                <a:latin typeface="Heading Now 31-38" panose="020B0604020202020204" charset="0"/>
              </a:rPr>
              <a:t>↓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dirty="0">
                <a:latin typeface="Heading Now 31-38" panose="020B0604020202020204" charset="0"/>
              </a:rPr>
              <a:t>Receipt Extraction — AI Suggestions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dirty="0">
                <a:latin typeface="Heading Now 31-38" panose="020B0604020202020204" charset="0"/>
              </a:rPr>
              <a:t>↓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b="1" dirty="0">
                <a:latin typeface="Heading Now 31-38" panose="020B0604020202020204" charset="0"/>
              </a:rPr>
              <a:t>User Review &amp; Confirmation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dirty="0">
                <a:latin typeface="Heading Now 31-38" panose="020B0604020202020204" charset="0"/>
              </a:rPr>
              <a:t>↓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dirty="0">
                <a:latin typeface="Heading Now 31-38" panose="020B0604020202020204" charset="0"/>
              </a:rPr>
              <a:t>Python Validation &amp; Exact Arithmetic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dirty="0">
                <a:latin typeface="Heading Now 31-38" panose="020B0604020202020204" charset="0"/>
              </a:rPr>
              <a:t>↓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dirty="0">
                <a:latin typeface="Heading Now 31-38" panose="020B0604020202020204" charset="0"/>
              </a:rPr>
              <a:t>SQLite — Verified Records and Evidence References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dirty="0">
                <a:latin typeface="Heading Now 31-38" panose="020B0604020202020204" charset="0"/>
              </a:rPr>
              <a:t>↓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dirty="0">
                <a:latin typeface="Heading Now 31-38" panose="020B0604020202020204" charset="0"/>
              </a:rPr>
              <a:t>Dashboard + Evidence-Linked PDF Report</a:t>
            </a:r>
          </a:p>
        </p:txBody>
      </p:sp>
    </p:spTree>
    <p:extLst>
      <p:ext uri="{BB962C8B-B14F-4D97-AF65-F5344CB8AC3E}">
        <p14:creationId xmlns:p14="http://schemas.microsoft.com/office/powerpoint/2010/main" val="698878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CA2C28BC-0F7C-96DD-A8E2-F9F365B3D60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5400" b="1" dirty="0">
              <a:latin typeface="Heading Now 31-38" panose="020B0604020202020204" charset="0"/>
            </a:endParaRPr>
          </a:p>
          <a:p>
            <a:endParaRPr lang="en-US" sz="5400" b="1" dirty="0">
              <a:latin typeface="Heading Now 31-38" panose="020B0604020202020204" charset="0"/>
            </a:endParaRPr>
          </a:p>
          <a:p>
            <a:endParaRPr lang="en-US" sz="5400" b="1" dirty="0">
              <a:latin typeface="Heading Now 31-38" panose="020B0604020202020204" charset="0"/>
            </a:endParaRPr>
          </a:p>
          <a:p>
            <a:r>
              <a:rPr lang="en-US" sz="5400" b="1" dirty="0">
                <a:latin typeface="Heading Now 31-38" panose="020B0604020202020204" charset="0"/>
              </a:rPr>
              <a:t>Our Core Safety Rule</a:t>
            </a:r>
          </a:p>
          <a:p>
            <a:r>
              <a:rPr lang="en-US" sz="5400" b="1" dirty="0">
                <a:latin typeface="Heading Now 31-38" panose="020B0604020202020204" charset="0"/>
              </a:rPr>
              <a:t>AI suggests. Humans confirm. Code calculates. Evidence supports.</a:t>
            </a:r>
            <a:endParaRPr lang="en-US" sz="5400" dirty="0">
              <a:latin typeface="Heading Now 31-38" panose="020B0604020202020204" charset="0"/>
            </a:endParaRPr>
          </a:p>
          <a:p>
            <a:r>
              <a:rPr lang="en-US" sz="5400" dirty="0">
                <a:latin typeface="Heading Now 31-38" panose="020B0604020202020204" charset="0"/>
              </a:rPr>
              <a:t>Unconfirmed AI-extracted values cannot be used in the final reconciliation. Calculations use standard deterministic code, and every reported difference remains traceable to the entered rule and delivery records.</a:t>
            </a:r>
          </a:p>
        </p:txBody>
      </p:sp>
    </p:spTree>
    <p:extLst>
      <p:ext uri="{BB962C8B-B14F-4D97-AF65-F5344CB8AC3E}">
        <p14:creationId xmlns:p14="http://schemas.microsoft.com/office/powerpoint/2010/main" val="3463468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6030575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750048" cy="9860652"/>
          </a:xfrm>
          <a:custGeom>
            <a:avLst/>
            <a:gdLst/>
            <a:ahLst/>
            <a:cxnLst/>
            <a:rect l="l" t="t" r="r" b="b"/>
            <a:pathLst>
              <a:path w="1750048" h="9860652">
                <a:moveTo>
                  <a:pt x="0" y="0"/>
                </a:moveTo>
                <a:lnTo>
                  <a:pt x="1750048" y="0"/>
                </a:lnTo>
                <a:lnTo>
                  <a:pt x="175004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46873"/>
            <a:ext cx="1312536" cy="3432644"/>
          </a:xfrm>
          <a:custGeom>
            <a:avLst/>
            <a:gdLst/>
            <a:ahLst/>
            <a:cxnLst/>
            <a:rect l="l" t="t" r="r" b="b"/>
            <a:pathLst>
              <a:path w="1312536" h="3432644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59732" y="5455062"/>
            <a:ext cx="5228268" cy="4848336"/>
            <a:chOff x="0" y="0"/>
            <a:chExt cx="6971024" cy="6464448"/>
          </a:xfrm>
        </p:grpSpPr>
        <p:sp>
          <p:nvSpPr>
            <p:cNvPr id="6" name="Freeform 6"/>
            <p:cNvSpPr/>
            <p:nvPr/>
          </p:nvSpPr>
          <p:spPr>
            <a:xfrm>
              <a:off x="1735464" y="1574206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122415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743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220976" y="0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862945" y="2122415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7" y="0"/>
                  </a:lnTo>
                  <a:lnTo>
                    <a:pt x="1472957" y="3162989"/>
                  </a:lnTo>
                  <a:lnTo>
                    <a:pt x="0" y="3162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-57150"/>
            <a:ext cx="1653540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FEASIBILITY AND VIABILITY</a:t>
            </a:r>
          </a:p>
        </p:txBody>
      </p:sp>
      <p:sp>
        <p:nvSpPr>
          <p:cNvPr id="11" name="Freeform 11"/>
          <p:cNvSpPr/>
          <p:nvPr/>
        </p:nvSpPr>
        <p:spPr>
          <a:xfrm>
            <a:off x="334880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26CB31B1-4A83-ED3B-C5A5-9FFD2391D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0095"/>
            <a:ext cx="17125859" cy="6786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Heading Now 31-38" panose="020B0604020202020204" charset="0"/>
              </a:rPr>
              <a:t>Why Is It Feasible?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Quick to Build:</a:t>
            </a:r>
            <a:r>
              <a:rPr lang="en-US" sz="3500" dirty="0">
                <a:latin typeface="Heading Now 31-38" panose="020B0604020202020204" charset="0"/>
              </a:rPr>
              <a:t> Python and </a:t>
            </a:r>
            <a:r>
              <a:rPr lang="en-US" sz="3500" dirty="0" err="1">
                <a:latin typeface="Heading Now 31-38" panose="020B0604020202020204" charset="0"/>
              </a:rPr>
              <a:t>Streamlit</a:t>
            </a:r>
            <a:r>
              <a:rPr lang="en-US" sz="3500" dirty="0">
                <a:latin typeface="Heading Now 31-38" panose="020B0604020202020204" charset="0"/>
              </a:rPr>
              <a:t> allow rapid development within the hackathon timeline.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Simple to Use:</a:t>
            </a:r>
            <a:r>
              <a:rPr lang="en-US" sz="3500" dirty="0">
                <a:latin typeface="Heading Now 31-38" panose="020B0604020202020204" charset="0"/>
              </a:rPr>
              <a:t> Clear forms, large controls and easy-to-understand quantity summaries.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Low Cost:</a:t>
            </a:r>
            <a:r>
              <a:rPr lang="en-US" sz="3500" dirty="0">
                <a:latin typeface="Heading Now 31-38" panose="020B0604020202020204" charset="0"/>
              </a:rPr>
              <a:t> Open-source Python libraries and SQLite support an affordable prototype.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Flexible Input:</a:t>
            </a:r>
            <a:r>
              <a:rPr lang="en-US" sz="3500" dirty="0">
                <a:latin typeface="Heading Now 31-38" panose="020B0604020202020204" charset="0"/>
              </a:rPr>
              <a:t> Users can manually enter delivery details even when receipt scanning is unavailable.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Expandable:</a:t>
            </a:r>
            <a:r>
              <a:rPr lang="en-US" sz="3500" dirty="0">
                <a:latin typeface="Heading Now 31-38" panose="020B0604020202020204" charset="0"/>
              </a:rPr>
              <a:t> OCR, Marathi and Hindi explanations, and cloud storage can be added as the project develops.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500" dirty="0">
              <a:latin typeface="Heading Now 31-38" panose="020B0604020202020204" charset="0"/>
            </a:endParaRPr>
          </a:p>
          <a:p>
            <a:r>
              <a:rPr lang="en-US" sz="3500" b="1" dirty="0">
                <a:latin typeface="Heading Now 31-38" panose="020B0604020202020204" charset="0"/>
              </a:rPr>
              <a:t>Practical Implementation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Heading Now 31-38" panose="020B0604020202020204" charset="0"/>
              </a:rPr>
              <a:t>Our hackathon MVP focuses on entitlement setup, partial-delivery tracking, exact calculations, evidence references and PDF report generation.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Heading Now 31-38" panose="020B0604020202020204" charset="0"/>
              </a:rPr>
              <a:t>Receipt OCR and multilingual assistance can be demonstrated as additional capabilities where integration is available and tested.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Future Scope:</a:t>
            </a:r>
            <a:r>
              <a:rPr lang="en-US" sz="3500" dirty="0">
                <a:latin typeface="Heading Now 31-38" panose="020B0604020202020204" charset="0"/>
              </a:rPr>
              <a:t> Offline-first receipt capture, secure cloud synchronization and authorized, privacy-protected analysis of aggregated discrepancies across locations.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715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-57150"/>
            <a:ext cx="16975464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IMPACT AND BENEFITS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6CF9ABFC-E42A-BD35-2F47-F3F8464E5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09" y="1319846"/>
            <a:ext cx="17576982" cy="8663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Empowering Families</a:t>
            </a:r>
          </a:p>
          <a:p>
            <a:r>
              <a:rPr lang="en-US" sz="3500" dirty="0">
                <a:latin typeface="Heading Now 31-38" panose="020B0604020202020204" charset="0"/>
              </a:rPr>
              <a:t>Provides a clear record of expected entitlement and recorded deliveries.</a:t>
            </a:r>
          </a:p>
          <a:p>
            <a:endParaRPr lang="en-US" sz="3500" dirty="0">
              <a:latin typeface="Heading Now 31-38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Evidence-Based Grievances</a:t>
            </a:r>
          </a:p>
          <a:p>
            <a:r>
              <a:rPr lang="en-US" sz="3500" dirty="0">
                <a:latin typeface="Heading Now 31-38" panose="020B0604020202020204" charset="0"/>
              </a:rPr>
              <a:t>Helps users organize calculations, dates, quantities and supporting receipts into a structured report.</a:t>
            </a:r>
          </a:p>
          <a:p>
            <a:endParaRPr lang="en-US" sz="3500" dirty="0">
              <a:latin typeface="Heading Now 31-38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Greater Transparency</a:t>
            </a:r>
          </a:p>
          <a:p>
            <a:r>
              <a:rPr lang="en-US" sz="3500" dirty="0">
                <a:latin typeface="Heading Now 31-38" panose="020B0604020202020204" charset="0"/>
              </a:rPr>
              <a:t>Makes it easier to review partial deliveries and identify records that require verification.</a:t>
            </a:r>
          </a:p>
          <a:p>
            <a:endParaRPr lang="en-US" sz="3500" dirty="0">
              <a:latin typeface="Heading Now 31-38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Responsible Dispute Resolution</a:t>
            </a:r>
          </a:p>
          <a:p>
            <a:r>
              <a:rPr lang="en-US" sz="3500" dirty="0">
                <a:latin typeface="Heading Now 31-38" panose="020B0604020202020204" charset="0"/>
              </a:rPr>
              <a:t>Uses neutral language and never treats a quantity difference as proof of fraud.</a:t>
            </a:r>
          </a:p>
          <a:p>
            <a:endParaRPr lang="en-US" sz="3500" dirty="0">
              <a:latin typeface="Heading Now 31-38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Potential Community Impact</a:t>
            </a:r>
          </a:p>
          <a:p>
            <a:r>
              <a:rPr lang="en-US" sz="3500" dirty="0">
                <a:latin typeface="Heading Now 31-38" panose="020B0604020202020204" charset="0"/>
              </a:rPr>
              <a:t>With appropriate consent, privacy safeguards and sufficient verified data, aggregated reports could help authorized organizations identify recurring supply or distribution issues.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Our Goal:</a:t>
            </a:r>
            <a:r>
              <a:rPr lang="en-US" sz="3500" dirty="0">
                <a:latin typeface="Heading Now 31-38" panose="020B0604020202020204" charset="0"/>
              </a:rPr>
              <a:t> Make ration tracking understandable, evidence-based and accessible to the people who need it most.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51664" y="-57151"/>
            <a:ext cx="16663264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DIFFERENTIATOR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5AAFCDF1-2E62-4C37-43E0-8B10115B4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452278"/>
            <a:ext cx="17907000" cy="8356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latin typeface="Heading Now 31-38" panose="020B0604020202020204" charset="0"/>
              </a:rPr>
              <a:t>What Makes </a:t>
            </a:r>
            <a:r>
              <a:rPr lang="en-US" sz="3000" b="1" dirty="0" err="1">
                <a:latin typeface="Heading Now 31-38" panose="020B0604020202020204" charset="0"/>
              </a:rPr>
              <a:t>RationSaathi</a:t>
            </a:r>
            <a:r>
              <a:rPr lang="en-US" sz="3000" b="1" dirty="0">
                <a:latin typeface="Heading Now 31-38" panose="020B0604020202020204" charset="0"/>
              </a:rPr>
              <a:t> Different?</a:t>
            </a:r>
          </a:p>
          <a:p>
            <a:r>
              <a:rPr lang="en-US" sz="3000" b="1" dirty="0">
                <a:latin typeface="Heading Now 31-38" panose="020B0604020202020204" charset="0"/>
              </a:rPr>
              <a:t>1. Human-in-the-Loop AI</a:t>
            </a:r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dirty="0">
                <a:latin typeface="Heading Now 31-38" panose="020B0604020202020204" charset="0"/>
              </a:rPr>
              <a:t>AI-extracted receipt details remain suggestions until the user reviews and confirms them.</a:t>
            </a:r>
          </a:p>
          <a:p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b="1" dirty="0">
                <a:latin typeface="Heading Now 31-38" panose="020B0604020202020204" charset="0"/>
              </a:rPr>
              <a:t>2. Deterministic Calculations</a:t>
            </a:r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dirty="0">
                <a:latin typeface="Heading Now 31-38" panose="020B0604020202020204" charset="0"/>
              </a:rPr>
              <a:t>A dedicated Python calculation engine computes entitlement, delivery totals and differences independently of AI-generated text.</a:t>
            </a:r>
          </a:p>
          <a:p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b="1" dirty="0">
                <a:latin typeface="Heading Now 31-38" panose="020B0604020202020204" charset="0"/>
              </a:rPr>
              <a:t>3. Evidence-Linked Ledger</a:t>
            </a:r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dirty="0">
                <a:latin typeface="Heading Now 31-38" panose="020B0604020202020204" charset="0"/>
              </a:rPr>
              <a:t>Each delivery retains its date, quantity, verification status and receipt reference, making the calculation easier to audit.</a:t>
            </a:r>
          </a:p>
          <a:p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b="1" dirty="0">
                <a:latin typeface="Heading Now 31-38" panose="020B0604020202020204" charset="0"/>
              </a:rPr>
              <a:t>4. Neutral-by-Design Reporting</a:t>
            </a:r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dirty="0">
                <a:latin typeface="Heading Now 31-38" panose="020B0604020202020204" charset="0"/>
              </a:rPr>
              <a:t>Reports distinguish documented differences from unverified records and never automatically accuse a beneficiary, distributor or supplier.</a:t>
            </a:r>
          </a:p>
          <a:p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b="1" dirty="0">
                <a:latin typeface="Heading Now 31-38" panose="020B0604020202020204" charset="0"/>
              </a:rPr>
              <a:t>5. Transparent, Line-by-Line Results</a:t>
            </a:r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dirty="0">
                <a:latin typeface="Heading Now 31-38" panose="020B0604020202020204" charset="0"/>
              </a:rPr>
              <a:t>Users can see the entitlement rule, individual deliveries, total received and exact arithmetic behind the result.</a:t>
            </a:r>
          </a:p>
          <a:p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b="1" dirty="0">
                <a:latin typeface="Heading Now 31-38" panose="020B0604020202020204" charset="0"/>
              </a:rPr>
              <a:t>Our Innovation</a:t>
            </a:r>
          </a:p>
          <a:p>
            <a:r>
              <a:rPr lang="en-US" sz="3000" b="1" dirty="0" err="1">
                <a:latin typeface="Heading Now 31-38" panose="020B0604020202020204" charset="0"/>
              </a:rPr>
              <a:t>RationSaathi</a:t>
            </a:r>
            <a:r>
              <a:rPr lang="en-US" sz="3000" b="1" dirty="0">
                <a:latin typeface="Heading Now 31-38" panose="020B0604020202020204" charset="0"/>
              </a:rPr>
              <a:t> does not just calculate what may be missing. It explains how the difference was calculated and shows which records support it.</a:t>
            </a:r>
            <a:endParaRPr lang="en-US" sz="3000" dirty="0">
              <a:latin typeface="Heading Now 31-38" panose="020B0604020202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711687"/>
            <a:ext cx="6540804" cy="5148966"/>
          </a:xfrm>
          <a:custGeom>
            <a:avLst/>
            <a:gdLst/>
            <a:ahLst/>
            <a:cxnLst/>
            <a:rect l="l" t="t" r="r" b="b"/>
            <a:pathLst>
              <a:path w="6540804" h="5148966">
                <a:moveTo>
                  <a:pt x="0" y="0"/>
                </a:moveTo>
                <a:lnTo>
                  <a:pt x="6540804" y="0"/>
                </a:lnTo>
                <a:lnTo>
                  <a:pt x="6540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175196" y="6854356"/>
            <a:ext cx="4364182" cy="3006296"/>
          </a:xfrm>
          <a:custGeom>
            <a:avLst/>
            <a:gdLst/>
            <a:ahLst/>
            <a:cxnLst/>
            <a:rect l="l" t="t" r="r" b="b"/>
            <a:pathLst>
              <a:path w="4364182" h="3006296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89330" y="7499343"/>
            <a:ext cx="8498670" cy="2361309"/>
          </a:xfrm>
          <a:custGeom>
            <a:avLst/>
            <a:gdLst/>
            <a:ahLst/>
            <a:cxnLst/>
            <a:rect l="l" t="t" r="r" b="b"/>
            <a:pathLst>
              <a:path w="8498670" h="2361309">
                <a:moveTo>
                  <a:pt x="0" y="0"/>
                </a:moveTo>
                <a:lnTo>
                  <a:pt x="8498670" y="0"/>
                </a:lnTo>
                <a:lnTo>
                  <a:pt x="8498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280704"/>
            <a:ext cx="16986402" cy="2798589"/>
          </a:xfrm>
          <a:custGeom>
            <a:avLst/>
            <a:gdLst/>
            <a:ahLst/>
            <a:cxnLst/>
            <a:rect l="l" t="t" r="r" b="b"/>
            <a:pathLst>
              <a:path w="16986402" h="2798589">
                <a:moveTo>
                  <a:pt x="0" y="0"/>
                </a:moveTo>
                <a:lnTo>
                  <a:pt x="16986402" y="0"/>
                </a:lnTo>
                <a:lnTo>
                  <a:pt x="1698640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1598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176622" y="5990729"/>
            <a:ext cx="1531292" cy="4088563"/>
          </a:xfrm>
          <a:custGeom>
            <a:avLst/>
            <a:gdLst/>
            <a:ahLst/>
            <a:cxnLst/>
            <a:rect l="l" t="t" r="r" b="b"/>
            <a:pathLst>
              <a:path w="1531292" h="4088563">
                <a:moveTo>
                  <a:pt x="0" y="0"/>
                </a:moveTo>
                <a:lnTo>
                  <a:pt x="1531292" y="0"/>
                </a:lnTo>
                <a:lnTo>
                  <a:pt x="153129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840976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23818" y="7280704"/>
            <a:ext cx="1104718" cy="2579949"/>
          </a:xfrm>
          <a:custGeom>
            <a:avLst/>
            <a:gdLst/>
            <a:ahLst/>
            <a:cxnLst/>
            <a:rect l="l" t="t" r="r" b="b"/>
            <a:pathLst>
              <a:path w="1104718" h="2579949">
                <a:moveTo>
                  <a:pt x="0" y="0"/>
                </a:moveTo>
                <a:lnTo>
                  <a:pt x="1104718" y="0"/>
                </a:lnTo>
                <a:lnTo>
                  <a:pt x="110471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105400" y="952502"/>
            <a:ext cx="7467600" cy="5424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129"/>
              </a:lnSpc>
            </a:pPr>
            <a:endParaRPr lang="en-US" sz="14129" b="1" spc="282" dirty="0">
              <a:solidFill>
                <a:srgbClr val="141D40"/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  <a:p>
            <a:pPr algn="ctr">
              <a:lnSpc>
                <a:spcPts val="14129"/>
              </a:lnSpc>
            </a:pPr>
            <a:r>
              <a:rPr lang="en-US" sz="14129" b="1" spc="282" dirty="0">
                <a:solidFill>
                  <a:srgbClr val="141D4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THANK YOU!</a:t>
            </a:r>
          </a:p>
          <a:p>
            <a:pPr algn="ctr">
              <a:lnSpc>
                <a:spcPts val="14129"/>
              </a:lnSpc>
            </a:pPr>
            <a:endParaRPr lang="en-US" sz="14129" b="1" spc="282" dirty="0">
              <a:solidFill>
                <a:srgbClr val="141D40"/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3259464" y="5459607"/>
            <a:ext cx="11769072" cy="218640"/>
          </a:xfrm>
          <a:custGeom>
            <a:avLst/>
            <a:gdLst/>
            <a:ahLst/>
            <a:cxnLst/>
            <a:rect l="l" t="t" r="r" b="b"/>
            <a:pathLst>
              <a:path w="11769072" h="218640">
                <a:moveTo>
                  <a:pt x="0" y="0"/>
                </a:moveTo>
                <a:lnTo>
                  <a:pt x="11769072" y="0"/>
                </a:lnTo>
                <a:lnTo>
                  <a:pt x="11769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517132" y="5877000"/>
            <a:ext cx="3296956" cy="87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323F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 3.0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81401" y="7052188"/>
            <a:ext cx="1168417" cy="8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ED80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AIRS</a:t>
            </a:r>
          </a:p>
        </p:txBody>
      </p:sp>
      <p:sp>
        <p:nvSpPr>
          <p:cNvPr id="16" name="TextBox 16"/>
          <p:cNvSpPr txBox="1"/>
          <p:nvPr/>
        </p:nvSpPr>
        <p:spPr>
          <a:xfrm rot="-769921">
            <a:off x="15555796" y="4644632"/>
            <a:ext cx="1911526" cy="170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Game’s</a:t>
            </a:r>
          </a:p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Still 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892622" y="5998497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850</Words>
  <Application>Microsoft Office PowerPoint</Application>
  <PresentationFormat>Custom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Heading Now 31-38 Bold</vt:lpstr>
      <vt:lpstr>Heading Now 31-38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VORTEXA 3.0 Hackathon</dc:title>
  <dc:creator>ADMIN</dc:creator>
  <cp:lastModifiedBy>Atharva Dubale</cp:lastModifiedBy>
  <cp:revision>5</cp:revision>
  <dcterms:created xsi:type="dcterms:W3CDTF">2006-08-16T00:00:00Z</dcterms:created>
  <dcterms:modified xsi:type="dcterms:W3CDTF">2026-10-12T04:30:51Z</dcterms:modified>
  <dc:identifier>DAHXr7I3BNw</dc:identifier>
</cp:coreProperties>
</file>